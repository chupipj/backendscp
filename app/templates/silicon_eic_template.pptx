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76" r:id="rId2"/>
    <p:sldId id="261" r:id="rId3"/>
    <p:sldId id="277" r:id="rId4"/>
    <p:sldId id="258" r:id="rId5"/>
    <p:sldId id="278" r:id="rId6"/>
    <p:sldId id="266" r:id="rId7"/>
    <p:sldId id="273" r:id="rId8"/>
    <p:sldId id="272" r:id="rId9"/>
    <p:sldId id="267" r:id="rId10"/>
    <p:sldId id="268" r:id="rId11"/>
    <p:sldId id="269" r:id="rId1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9E21B7"/>
    <a:srgbClr val="1425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22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5CBBD3-5A64-448C-A0A5-BAE3267F3D69}" type="doc">
      <dgm:prSet loTypeId="urn:microsoft.com/office/officeart/2005/8/layout/chevron1" loCatId="process" qsTypeId="urn:microsoft.com/office/officeart/2005/8/quickstyle/simple1" qsCatId="simple" csTypeId="urn:microsoft.com/office/officeart/2005/8/colors/accent1_2" csCatId="accent1" phldr="1"/>
      <dgm:spPr/>
    </dgm:pt>
    <dgm:pt modelId="{F13261F4-893A-400E-BA26-E8C9AAA4D137}">
      <dgm:prSet phldrT="[Texto]" custT="1"/>
      <dgm:spPr>
        <a:solidFill>
          <a:srgbClr val="142542"/>
        </a:solidFill>
      </dgm:spPr>
      <dgm:t>
        <a:bodyPr/>
        <a:lstStyle/>
        <a:p>
          <a:r>
            <a:rPr lang="es-ES" sz="1600" dirty="0">
              <a:latin typeface="Century Gothic" panose="020B0502020202020204" pitchFamily="34" charset="0"/>
            </a:rPr>
            <a:t>Short </a:t>
          </a:r>
          <a:r>
            <a:rPr lang="es-ES" sz="1600" dirty="0" err="1">
              <a:latin typeface="Century Gothic" panose="020B0502020202020204" pitchFamily="34" charset="0"/>
            </a:rPr>
            <a:t>Stage</a:t>
          </a:r>
          <a:endParaRPr lang="es-ES" sz="1600" dirty="0">
            <a:latin typeface="Century Gothic" panose="020B0502020202020204" pitchFamily="34" charset="0"/>
          </a:endParaRPr>
        </a:p>
      </dgm:t>
    </dgm:pt>
    <dgm:pt modelId="{946C0CA2-A400-4622-B7FD-3E2A93106C44}" type="parTrans" cxnId="{D0B85951-7BB7-4B3D-AC01-64926A91D955}">
      <dgm:prSet/>
      <dgm:spPr/>
      <dgm:t>
        <a:bodyPr/>
        <a:lstStyle/>
        <a:p>
          <a:endParaRPr lang="es-ES" sz="1600">
            <a:latin typeface="Century Gothic" panose="020B0502020202020204" pitchFamily="34" charset="0"/>
          </a:endParaRPr>
        </a:p>
      </dgm:t>
    </dgm:pt>
    <dgm:pt modelId="{E0149242-220F-4C31-8074-616A5FD33051}" type="sibTrans" cxnId="{D0B85951-7BB7-4B3D-AC01-64926A91D955}">
      <dgm:prSet/>
      <dgm:spPr/>
      <dgm:t>
        <a:bodyPr/>
        <a:lstStyle/>
        <a:p>
          <a:endParaRPr lang="es-ES" sz="1600">
            <a:latin typeface="Century Gothic" panose="020B0502020202020204" pitchFamily="34" charset="0"/>
          </a:endParaRPr>
        </a:p>
      </dgm:t>
    </dgm:pt>
    <dgm:pt modelId="{E94F3015-849B-44EC-BC9F-48BF5F83DB32}">
      <dgm:prSet phldrT="[Texto]" custT="1"/>
      <dgm:spPr>
        <a:solidFill>
          <a:srgbClr val="142542"/>
        </a:solidFill>
      </dgm:spPr>
      <dgm:t>
        <a:bodyPr/>
        <a:lstStyle/>
        <a:p>
          <a:r>
            <a:rPr lang="es-ES" sz="1600" dirty="0">
              <a:latin typeface="Century Gothic" panose="020B0502020202020204" pitchFamily="34" charset="0"/>
            </a:rPr>
            <a:t>Full </a:t>
          </a:r>
          <a:r>
            <a:rPr lang="es-ES" sz="1600" dirty="0" err="1">
              <a:latin typeface="Century Gothic" panose="020B0502020202020204" pitchFamily="34" charset="0"/>
            </a:rPr>
            <a:t>Stage</a:t>
          </a:r>
          <a:endParaRPr lang="es-ES" sz="1600" dirty="0">
            <a:latin typeface="Century Gothic" panose="020B0502020202020204" pitchFamily="34" charset="0"/>
          </a:endParaRPr>
        </a:p>
      </dgm:t>
    </dgm:pt>
    <dgm:pt modelId="{916C2765-A740-42E0-AA74-E51E4562F526}" type="parTrans" cxnId="{7B6752B1-0BDD-49E6-A7A4-3A7B1F47E61A}">
      <dgm:prSet/>
      <dgm:spPr/>
      <dgm:t>
        <a:bodyPr/>
        <a:lstStyle/>
        <a:p>
          <a:endParaRPr lang="es-ES" sz="1600">
            <a:latin typeface="Century Gothic" panose="020B0502020202020204" pitchFamily="34" charset="0"/>
          </a:endParaRPr>
        </a:p>
      </dgm:t>
    </dgm:pt>
    <dgm:pt modelId="{79C07B70-32DA-43E9-AAB7-95E3B9C4AC39}" type="sibTrans" cxnId="{7B6752B1-0BDD-49E6-A7A4-3A7B1F47E61A}">
      <dgm:prSet/>
      <dgm:spPr/>
      <dgm:t>
        <a:bodyPr/>
        <a:lstStyle/>
        <a:p>
          <a:endParaRPr lang="es-ES" sz="1600">
            <a:latin typeface="Century Gothic" panose="020B0502020202020204" pitchFamily="34" charset="0"/>
          </a:endParaRPr>
        </a:p>
      </dgm:t>
    </dgm:pt>
    <dgm:pt modelId="{11CF3686-D601-40B2-A9CC-C23AC2A6BAA6}">
      <dgm:prSet phldrT="[Texto]" custT="1"/>
      <dgm:spPr>
        <a:solidFill>
          <a:srgbClr val="142542"/>
        </a:solidFill>
      </dgm:spPr>
      <dgm:t>
        <a:bodyPr/>
        <a:lstStyle/>
        <a:p>
          <a:r>
            <a:rPr lang="es-ES" sz="1600" dirty="0">
              <a:latin typeface="Century Gothic" panose="020B0502020202020204" pitchFamily="34" charset="0"/>
            </a:rPr>
            <a:t>Interview</a:t>
          </a:r>
        </a:p>
      </dgm:t>
    </dgm:pt>
    <dgm:pt modelId="{C3053AB5-A832-4FCF-A2A9-65D7AEEEF09F}" type="parTrans" cxnId="{7B2B4E58-CE73-4BF0-A0FD-387BB1BB3C52}">
      <dgm:prSet/>
      <dgm:spPr/>
      <dgm:t>
        <a:bodyPr/>
        <a:lstStyle/>
        <a:p>
          <a:endParaRPr lang="es-ES" sz="1600">
            <a:latin typeface="Century Gothic" panose="020B0502020202020204" pitchFamily="34" charset="0"/>
          </a:endParaRPr>
        </a:p>
      </dgm:t>
    </dgm:pt>
    <dgm:pt modelId="{87AFB091-E577-4A57-8A11-D7365E3803E2}" type="sibTrans" cxnId="{7B2B4E58-CE73-4BF0-A0FD-387BB1BB3C52}">
      <dgm:prSet/>
      <dgm:spPr/>
      <dgm:t>
        <a:bodyPr/>
        <a:lstStyle/>
        <a:p>
          <a:endParaRPr lang="es-ES" sz="1600">
            <a:latin typeface="Century Gothic" panose="020B0502020202020204" pitchFamily="34" charset="0"/>
          </a:endParaRPr>
        </a:p>
      </dgm:t>
    </dgm:pt>
    <dgm:pt modelId="{59B9CB31-C438-4EC7-820F-D48826CF3B02}" type="pres">
      <dgm:prSet presAssocID="{035CBBD3-5A64-448C-A0A5-BAE3267F3D69}" presName="Name0" presStyleCnt="0">
        <dgm:presLayoutVars>
          <dgm:dir/>
          <dgm:animLvl val="lvl"/>
          <dgm:resizeHandles val="exact"/>
        </dgm:presLayoutVars>
      </dgm:prSet>
      <dgm:spPr/>
    </dgm:pt>
    <dgm:pt modelId="{34270108-EE55-4457-BE1A-9F6CEAAB2678}" type="pres">
      <dgm:prSet presAssocID="{F13261F4-893A-400E-BA26-E8C9AAA4D137}" presName="parTxOnly" presStyleLbl="node1" presStyleIdx="0" presStyleCnt="3">
        <dgm:presLayoutVars>
          <dgm:chMax val="0"/>
          <dgm:chPref val="0"/>
          <dgm:bulletEnabled val="1"/>
        </dgm:presLayoutVars>
      </dgm:prSet>
      <dgm:spPr/>
    </dgm:pt>
    <dgm:pt modelId="{1E1C9B7A-B57E-4C88-A591-0374F7056928}" type="pres">
      <dgm:prSet presAssocID="{E0149242-220F-4C31-8074-616A5FD33051}" presName="parTxOnlySpace" presStyleCnt="0"/>
      <dgm:spPr/>
    </dgm:pt>
    <dgm:pt modelId="{20345F40-2EB9-4D7F-A803-BED8098E9742}" type="pres">
      <dgm:prSet presAssocID="{E94F3015-849B-44EC-BC9F-48BF5F83DB32}" presName="parTxOnly" presStyleLbl="node1" presStyleIdx="1" presStyleCnt="3">
        <dgm:presLayoutVars>
          <dgm:chMax val="0"/>
          <dgm:chPref val="0"/>
          <dgm:bulletEnabled val="1"/>
        </dgm:presLayoutVars>
      </dgm:prSet>
      <dgm:spPr/>
    </dgm:pt>
    <dgm:pt modelId="{6F1CC945-CDF2-48E3-9F5E-824D6DABD4ED}" type="pres">
      <dgm:prSet presAssocID="{79C07B70-32DA-43E9-AAB7-95E3B9C4AC39}" presName="parTxOnlySpace" presStyleCnt="0"/>
      <dgm:spPr/>
    </dgm:pt>
    <dgm:pt modelId="{801E149C-83C5-455A-8B74-E9D536E54B63}" type="pres">
      <dgm:prSet presAssocID="{11CF3686-D601-40B2-A9CC-C23AC2A6BAA6}" presName="parTxOnly" presStyleLbl="node1" presStyleIdx="2" presStyleCnt="3">
        <dgm:presLayoutVars>
          <dgm:chMax val="0"/>
          <dgm:chPref val="0"/>
          <dgm:bulletEnabled val="1"/>
        </dgm:presLayoutVars>
      </dgm:prSet>
      <dgm:spPr/>
    </dgm:pt>
  </dgm:ptLst>
  <dgm:cxnLst>
    <dgm:cxn modelId="{7E8BB00D-D742-4097-85C6-7C27D574FBE9}" type="presOf" srcId="{E94F3015-849B-44EC-BC9F-48BF5F83DB32}" destId="{20345F40-2EB9-4D7F-A803-BED8098E9742}" srcOrd="0" destOrd="0" presId="urn:microsoft.com/office/officeart/2005/8/layout/chevron1"/>
    <dgm:cxn modelId="{F265351D-A027-4CC9-956E-F1D4B9F3910B}" type="presOf" srcId="{F13261F4-893A-400E-BA26-E8C9AAA4D137}" destId="{34270108-EE55-4457-BE1A-9F6CEAAB2678}" srcOrd="0" destOrd="0" presId="urn:microsoft.com/office/officeart/2005/8/layout/chevron1"/>
    <dgm:cxn modelId="{62568668-CC06-4312-9F20-02BEE44B29D5}" type="presOf" srcId="{035CBBD3-5A64-448C-A0A5-BAE3267F3D69}" destId="{59B9CB31-C438-4EC7-820F-D48826CF3B02}" srcOrd="0" destOrd="0" presId="urn:microsoft.com/office/officeart/2005/8/layout/chevron1"/>
    <dgm:cxn modelId="{D0B85951-7BB7-4B3D-AC01-64926A91D955}" srcId="{035CBBD3-5A64-448C-A0A5-BAE3267F3D69}" destId="{F13261F4-893A-400E-BA26-E8C9AAA4D137}" srcOrd="0" destOrd="0" parTransId="{946C0CA2-A400-4622-B7FD-3E2A93106C44}" sibTransId="{E0149242-220F-4C31-8074-616A5FD33051}"/>
    <dgm:cxn modelId="{7B2B4E58-CE73-4BF0-A0FD-387BB1BB3C52}" srcId="{035CBBD3-5A64-448C-A0A5-BAE3267F3D69}" destId="{11CF3686-D601-40B2-A9CC-C23AC2A6BAA6}" srcOrd="2" destOrd="0" parTransId="{C3053AB5-A832-4FCF-A2A9-65D7AEEEF09F}" sibTransId="{87AFB091-E577-4A57-8A11-D7365E3803E2}"/>
    <dgm:cxn modelId="{CE399FA5-6A74-4FE3-A519-1612E8BCCDE9}" type="presOf" srcId="{11CF3686-D601-40B2-A9CC-C23AC2A6BAA6}" destId="{801E149C-83C5-455A-8B74-E9D536E54B63}" srcOrd="0" destOrd="0" presId="urn:microsoft.com/office/officeart/2005/8/layout/chevron1"/>
    <dgm:cxn modelId="{7B6752B1-0BDD-49E6-A7A4-3A7B1F47E61A}" srcId="{035CBBD3-5A64-448C-A0A5-BAE3267F3D69}" destId="{E94F3015-849B-44EC-BC9F-48BF5F83DB32}" srcOrd="1" destOrd="0" parTransId="{916C2765-A740-42E0-AA74-E51E4562F526}" sibTransId="{79C07B70-32DA-43E9-AAB7-95E3B9C4AC39}"/>
    <dgm:cxn modelId="{4E18AC4E-BE85-45D1-AE4A-8EAFFFE55348}" type="presParOf" srcId="{59B9CB31-C438-4EC7-820F-D48826CF3B02}" destId="{34270108-EE55-4457-BE1A-9F6CEAAB2678}" srcOrd="0" destOrd="0" presId="urn:microsoft.com/office/officeart/2005/8/layout/chevron1"/>
    <dgm:cxn modelId="{428DF195-0A1E-4073-A43E-371739E76BB7}" type="presParOf" srcId="{59B9CB31-C438-4EC7-820F-D48826CF3B02}" destId="{1E1C9B7A-B57E-4C88-A591-0374F7056928}" srcOrd="1" destOrd="0" presId="urn:microsoft.com/office/officeart/2005/8/layout/chevron1"/>
    <dgm:cxn modelId="{B3F572D4-C485-43F4-95D8-B497739EECDA}" type="presParOf" srcId="{59B9CB31-C438-4EC7-820F-D48826CF3B02}" destId="{20345F40-2EB9-4D7F-A803-BED8098E9742}" srcOrd="2" destOrd="0" presId="urn:microsoft.com/office/officeart/2005/8/layout/chevron1"/>
    <dgm:cxn modelId="{A92205E2-B251-4ED1-9351-F5EABAAD3289}" type="presParOf" srcId="{59B9CB31-C438-4EC7-820F-D48826CF3B02}" destId="{6F1CC945-CDF2-48E3-9F5E-824D6DABD4ED}" srcOrd="3" destOrd="0" presId="urn:microsoft.com/office/officeart/2005/8/layout/chevron1"/>
    <dgm:cxn modelId="{2545DE8C-411C-42CB-88B2-DDF9A4D71269}" type="presParOf" srcId="{59B9CB31-C438-4EC7-820F-D48826CF3B02}" destId="{801E149C-83C5-455A-8B74-E9D536E54B63}" srcOrd="4"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AB7853-0CD4-4C39-99B9-83728FCF2A78}" type="doc">
      <dgm:prSet loTypeId="urn:microsoft.com/office/officeart/2005/8/layout/chevron1" loCatId="process" qsTypeId="urn:microsoft.com/office/officeart/2005/8/quickstyle/simple1" qsCatId="simple" csTypeId="urn:microsoft.com/office/officeart/2005/8/colors/accent1_2" csCatId="accent1" phldr="1"/>
      <dgm:spPr/>
    </dgm:pt>
    <dgm:pt modelId="{72162871-3521-4167-9856-1E61D6E9D75E}">
      <dgm:prSet phldrT="[Texto]"/>
      <dgm:spPr/>
      <dgm:t>
        <a:bodyPr/>
        <a:lstStyle/>
        <a:p>
          <a:r>
            <a:rPr lang="es-ES" dirty="0"/>
            <a:t>EIC </a:t>
          </a:r>
          <a:r>
            <a:rPr lang="es-ES" dirty="0" err="1"/>
            <a:t>Applications</a:t>
          </a:r>
          <a:endParaRPr lang="es-ES" dirty="0"/>
        </a:p>
      </dgm:t>
    </dgm:pt>
    <dgm:pt modelId="{893290CA-420B-4AA1-8D49-EB456F78873B}" type="parTrans" cxnId="{2E9670FC-5E45-4DBC-9642-EFF3A69E8944}">
      <dgm:prSet/>
      <dgm:spPr/>
      <dgm:t>
        <a:bodyPr/>
        <a:lstStyle/>
        <a:p>
          <a:endParaRPr lang="es-ES"/>
        </a:p>
      </dgm:t>
    </dgm:pt>
    <dgm:pt modelId="{E58FF655-FC17-478E-B2AE-48679322B67B}" type="sibTrans" cxnId="{2E9670FC-5E45-4DBC-9642-EFF3A69E8944}">
      <dgm:prSet/>
      <dgm:spPr/>
      <dgm:t>
        <a:bodyPr/>
        <a:lstStyle/>
        <a:p>
          <a:endParaRPr lang="es-ES"/>
        </a:p>
      </dgm:t>
    </dgm:pt>
    <dgm:pt modelId="{B358C962-6969-4D5B-A490-99C4AA4AD0DD}">
      <dgm:prSet phldrT="[Texto]"/>
      <dgm:spPr/>
      <dgm:t>
        <a:bodyPr/>
        <a:lstStyle/>
        <a:p>
          <a:r>
            <a:rPr lang="es-ES" dirty="0"/>
            <a:t>EIC Final</a:t>
          </a:r>
        </a:p>
      </dgm:t>
    </dgm:pt>
    <dgm:pt modelId="{B3FC242F-1AD7-4E8E-B2CC-551C0069D2B3}" type="parTrans" cxnId="{C1162138-6DCD-4113-84BD-6F950E10263D}">
      <dgm:prSet/>
      <dgm:spPr/>
      <dgm:t>
        <a:bodyPr/>
        <a:lstStyle/>
        <a:p>
          <a:endParaRPr lang="es-ES"/>
        </a:p>
      </dgm:t>
    </dgm:pt>
    <dgm:pt modelId="{61787627-00C3-40DD-B853-390F3C743C75}" type="sibTrans" cxnId="{C1162138-6DCD-4113-84BD-6F950E10263D}">
      <dgm:prSet/>
      <dgm:spPr/>
      <dgm:t>
        <a:bodyPr/>
        <a:lstStyle/>
        <a:p>
          <a:endParaRPr lang="es-ES"/>
        </a:p>
      </dgm:t>
    </dgm:pt>
    <dgm:pt modelId="{4F1543B1-ED50-41CE-A626-95111E4164F0}">
      <dgm:prSet phldrT="[Texto]"/>
      <dgm:spPr/>
      <dgm:t>
        <a:bodyPr/>
        <a:lstStyle/>
        <a:p>
          <a:r>
            <a:rPr lang="es-ES" dirty="0" err="1"/>
            <a:t>Public</a:t>
          </a:r>
          <a:r>
            <a:rPr lang="es-ES" dirty="0"/>
            <a:t> </a:t>
          </a:r>
          <a:r>
            <a:rPr lang="es-ES" dirty="0" err="1"/>
            <a:t>Fundig</a:t>
          </a:r>
          <a:endParaRPr lang="es-ES" dirty="0"/>
        </a:p>
      </dgm:t>
    </dgm:pt>
    <dgm:pt modelId="{5FFFCF6D-D4AB-4E27-96A0-C121FBBD2D24}" type="parTrans" cxnId="{33BC1A14-3EE1-427D-8420-D9B3449A1BB0}">
      <dgm:prSet/>
      <dgm:spPr/>
      <dgm:t>
        <a:bodyPr/>
        <a:lstStyle/>
        <a:p>
          <a:endParaRPr lang="es-ES"/>
        </a:p>
      </dgm:t>
    </dgm:pt>
    <dgm:pt modelId="{39A991CE-BD75-4FCB-9AD5-151186509698}" type="sibTrans" cxnId="{33BC1A14-3EE1-427D-8420-D9B3449A1BB0}">
      <dgm:prSet/>
      <dgm:spPr/>
      <dgm:t>
        <a:bodyPr/>
        <a:lstStyle/>
        <a:p>
          <a:endParaRPr lang="es-ES"/>
        </a:p>
      </dgm:t>
    </dgm:pt>
    <dgm:pt modelId="{39A3AC60-ECE9-48D7-BEEF-E4EFB6CA1008}" type="pres">
      <dgm:prSet presAssocID="{7DAB7853-0CD4-4C39-99B9-83728FCF2A78}" presName="Name0" presStyleCnt="0">
        <dgm:presLayoutVars>
          <dgm:dir/>
          <dgm:animLvl val="lvl"/>
          <dgm:resizeHandles val="exact"/>
        </dgm:presLayoutVars>
      </dgm:prSet>
      <dgm:spPr/>
    </dgm:pt>
    <dgm:pt modelId="{CCB83DD2-F124-41C4-A5D1-36B683930227}" type="pres">
      <dgm:prSet presAssocID="{72162871-3521-4167-9856-1E61D6E9D75E}" presName="parTxOnly" presStyleLbl="node1" presStyleIdx="0" presStyleCnt="3">
        <dgm:presLayoutVars>
          <dgm:chMax val="0"/>
          <dgm:chPref val="0"/>
          <dgm:bulletEnabled val="1"/>
        </dgm:presLayoutVars>
      </dgm:prSet>
      <dgm:spPr/>
    </dgm:pt>
    <dgm:pt modelId="{7CB295F4-3E9F-4903-9CF8-24D176A3462A}" type="pres">
      <dgm:prSet presAssocID="{E58FF655-FC17-478E-B2AE-48679322B67B}" presName="parTxOnlySpace" presStyleCnt="0"/>
      <dgm:spPr/>
    </dgm:pt>
    <dgm:pt modelId="{2FF9DE47-C3C4-4BC6-ACC2-9D7160CDCEFE}" type="pres">
      <dgm:prSet presAssocID="{B358C962-6969-4D5B-A490-99C4AA4AD0DD}" presName="parTxOnly" presStyleLbl="node1" presStyleIdx="1" presStyleCnt="3" custLinFactNeighborY="-4588">
        <dgm:presLayoutVars>
          <dgm:chMax val="0"/>
          <dgm:chPref val="0"/>
          <dgm:bulletEnabled val="1"/>
        </dgm:presLayoutVars>
      </dgm:prSet>
      <dgm:spPr/>
    </dgm:pt>
    <dgm:pt modelId="{9A42437D-503C-4399-B10E-9DCD62225484}" type="pres">
      <dgm:prSet presAssocID="{61787627-00C3-40DD-B853-390F3C743C75}" presName="parTxOnlySpace" presStyleCnt="0"/>
      <dgm:spPr/>
    </dgm:pt>
    <dgm:pt modelId="{22885339-D2EB-4C16-A44C-00A5B8721E08}" type="pres">
      <dgm:prSet presAssocID="{4F1543B1-ED50-41CE-A626-95111E4164F0}" presName="parTxOnly" presStyleLbl="node1" presStyleIdx="2" presStyleCnt="3" custLinFactNeighborX="5118">
        <dgm:presLayoutVars>
          <dgm:chMax val="0"/>
          <dgm:chPref val="0"/>
          <dgm:bulletEnabled val="1"/>
        </dgm:presLayoutVars>
      </dgm:prSet>
      <dgm:spPr/>
    </dgm:pt>
  </dgm:ptLst>
  <dgm:cxnLst>
    <dgm:cxn modelId="{ED0A9904-4193-424D-B639-C308275B453E}" type="presOf" srcId="{7DAB7853-0CD4-4C39-99B9-83728FCF2A78}" destId="{39A3AC60-ECE9-48D7-BEEF-E4EFB6CA1008}" srcOrd="0" destOrd="0" presId="urn:microsoft.com/office/officeart/2005/8/layout/chevron1"/>
    <dgm:cxn modelId="{33BC1A14-3EE1-427D-8420-D9B3449A1BB0}" srcId="{7DAB7853-0CD4-4C39-99B9-83728FCF2A78}" destId="{4F1543B1-ED50-41CE-A626-95111E4164F0}" srcOrd="2" destOrd="0" parTransId="{5FFFCF6D-D4AB-4E27-96A0-C121FBBD2D24}" sibTransId="{39A991CE-BD75-4FCB-9AD5-151186509698}"/>
    <dgm:cxn modelId="{B9A89B1B-9699-4D26-AF30-11AB0513039B}" type="presOf" srcId="{4F1543B1-ED50-41CE-A626-95111E4164F0}" destId="{22885339-D2EB-4C16-A44C-00A5B8721E08}" srcOrd="0" destOrd="0" presId="urn:microsoft.com/office/officeart/2005/8/layout/chevron1"/>
    <dgm:cxn modelId="{C1162138-6DCD-4113-84BD-6F950E10263D}" srcId="{7DAB7853-0CD4-4C39-99B9-83728FCF2A78}" destId="{B358C962-6969-4D5B-A490-99C4AA4AD0DD}" srcOrd="1" destOrd="0" parTransId="{B3FC242F-1AD7-4E8E-B2CC-551C0069D2B3}" sibTransId="{61787627-00C3-40DD-B853-390F3C743C75}"/>
    <dgm:cxn modelId="{1D195953-3826-4AB5-9809-79CFC753E450}" type="presOf" srcId="{72162871-3521-4167-9856-1E61D6E9D75E}" destId="{CCB83DD2-F124-41C4-A5D1-36B683930227}" srcOrd="0" destOrd="0" presId="urn:microsoft.com/office/officeart/2005/8/layout/chevron1"/>
    <dgm:cxn modelId="{2E9670FC-5E45-4DBC-9642-EFF3A69E8944}" srcId="{7DAB7853-0CD4-4C39-99B9-83728FCF2A78}" destId="{72162871-3521-4167-9856-1E61D6E9D75E}" srcOrd="0" destOrd="0" parTransId="{893290CA-420B-4AA1-8D49-EB456F78873B}" sibTransId="{E58FF655-FC17-478E-B2AE-48679322B67B}"/>
    <dgm:cxn modelId="{285178FF-0BF5-43DE-A8F7-D7B904B2AD0F}" type="presOf" srcId="{B358C962-6969-4D5B-A490-99C4AA4AD0DD}" destId="{2FF9DE47-C3C4-4BC6-ACC2-9D7160CDCEFE}" srcOrd="0" destOrd="0" presId="urn:microsoft.com/office/officeart/2005/8/layout/chevron1"/>
    <dgm:cxn modelId="{9676A99D-925E-4AA9-BCBA-599627796FB3}" type="presParOf" srcId="{39A3AC60-ECE9-48D7-BEEF-E4EFB6CA1008}" destId="{CCB83DD2-F124-41C4-A5D1-36B683930227}" srcOrd="0" destOrd="0" presId="urn:microsoft.com/office/officeart/2005/8/layout/chevron1"/>
    <dgm:cxn modelId="{883DA503-7C0C-47A8-95F5-F72DCAE2C0E8}" type="presParOf" srcId="{39A3AC60-ECE9-48D7-BEEF-E4EFB6CA1008}" destId="{7CB295F4-3E9F-4903-9CF8-24D176A3462A}" srcOrd="1" destOrd="0" presId="urn:microsoft.com/office/officeart/2005/8/layout/chevron1"/>
    <dgm:cxn modelId="{B08E139C-486B-4605-88CB-EDFDF31CA37A}" type="presParOf" srcId="{39A3AC60-ECE9-48D7-BEEF-E4EFB6CA1008}" destId="{2FF9DE47-C3C4-4BC6-ACC2-9D7160CDCEFE}" srcOrd="2" destOrd="0" presId="urn:microsoft.com/office/officeart/2005/8/layout/chevron1"/>
    <dgm:cxn modelId="{A823648E-2666-4BE8-98A3-1E758E35072C}" type="presParOf" srcId="{39A3AC60-ECE9-48D7-BEEF-E4EFB6CA1008}" destId="{9A42437D-503C-4399-B10E-9DCD62225484}" srcOrd="3" destOrd="0" presId="urn:microsoft.com/office/officeart/2005/8/layout/chevron1"/>
    <dgm:cxn modelId="{65C2A253-3347-4D31-8FE7-85BB558A7813}" type="presParOf" srcId="{39A3AC60-ECE9-48D7-BEEF-E4EFB6CA1008}" destId="{22885339-D2EB-4C16-A44C-00A5B8721E08}"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70108-EE55-4457-BE1A-9F6CEAAB2678}">
      <dsp:nvSpPr>
        <dsp:cNvPr id="0" name=""/>
        <dsp:cNvSpPr/>
      </dsp:nvSpPr>
      <dsp:spPr>
        <a:xfrm>
          <a:off x="1911" y="0"/>
          <a:ext cx="2328825" cy="307777"/>
        </a:xfrm>
        <a:prstGeom prst="chevron">
          <a:avLst/>
        </a:prstGeom>
        <a:solidFill>
          <a:srgbClr val="1425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Century Gothic" panose="020B0502020202020204" pitchFamily="34" charset="0"/>
            </a:rPr>
            <a:t>Short </a:t>
          </a:r>
          <a:r>
            <a:rPr lang="es-ES" sz="1600" kern="1200" dirty="0" err="1">
              <a:latin typeface="Century Gothic" panose="020B0502020202020204" pitchFamily="34" charset="0"/>
            </a:rPr>
            <a:t>Stage</a:t>
          </a:r>
          <a:endParaRPr lang="es-ES" sz="1600" kern="1200" dirty="0">
            <a:latin typeface="Century Gothic" panose="020B0502020202020204" pitchFamily="34" charset="0"/>
          </a:endParaRPr>
        </a:p>
      </dsp:txBody>
      <dsp:txXfrm>
        <a:off x="155800" y="0"/>
        <a:ext cx="2021048" cy="307777"/>
      </dsp:txXfrm>
    </dsp:sp>
    <dsp:sp modelId="{20345F40-2EB9-4D7F-A803-BED8098E9742}">
      <dsp:nvSpPr>
        <dsp:cNvPr id="0" name=""/>
        <dsp:cNvSpPr/>
      </dsp:nvSpPr>
      <dsp:spPr>
        <a:xfrm>
          <a:off x="2097854" y="0"/>
          <a:ext cx="2328825" cy="307777"/>
        </a:xfrm>
        <a:prstGeom prst="chevron">
          <a:avLst/>
        </a:prstGeom>
        <a:solidFill>
          <a:srgbClr val="1425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Century Gothic" panose="020B0502020202020204" pitchFamily="34" charset="0"/>
            </a:rPr>
            <a:t>Full </a:t>
          </a:r>
          <a:r>
            <a:rPr lang="es-ES" sz="1600" kern="1200" dirty="0" err="1">
              <a:latin typeface="Century Gothic" panose="020B0502020202020204" pitchFamily="34" charset="0"/>
            </a:rPr>
            <a:t>Stage</a:t>
          </a:r>
          <a:endParaRPr lang="es-ES" sz="1600" kern="1200" dirty="0">
            <a:latin typeface="Century Gothic" panose="020B0502020202020204" pitchFamily="34" charset="0"/>
          </a:endParaRPr>
        </a:p>
      </dsp:txBody>
      <dsp:txXfrm>
        <a:off x="2251743" y="0"/>
        <a:ext cx="2021048" cy="307777"/>
      </dsp:txXfrm>
    </dsp:sp>
    <dsp:sp modelId="{801E149C-83C5-455A-8B74-E9D536E54B63}">
      <dsp:nvSpPr>
        <dsp:cNvPr id="0" name=""/>
        <dsp:cNvSpPr/>
      </dsp:nvSpPr>
      <dsp:spPr>
        <a:xfrm>
          <a:off x="4193797" y="0"/>
          <a:ext cx="2328825" cy="307777"/>
        </a:xfrm>
        <a:prstGeom prst="chevron">
          <a:avLst/>
        </a:prstGeom>
        <a:solidFill>
          <a:srgbClr val="1425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Century Gothic" panose="020B0502020202020204" pitchFamily="34" charset="0"/>
            </a:rPr>
            <a:t>Interview</a:t>
          </a:r>
        </a:p>
      </dsp:txBody>
      <dsp:txXfrm>
        <a:off x="4347686" y="0"/>
        <a:ext cx="2021048" cy="3077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B83DD2-F124-41C4-A5D1-36B683930227}">
      <dsp:nvSpPr>
        <dsp:cNvPr id="0" name=""/>
        <dsp:cNvSpPr/>
      </dsp:nvSpPr>
      <dsp:spPr>
        <a:xfrm>
          <a:off x="1838" y="0"/>
          <a:ext cx="2239997" cy="209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s-ES" sz="1200" kern="1200" dirty="0"/>
            <a:t>EIC </a:t>
          </a:r>
          <a:r>
            <a:rPr lang="es-ES" sz="1200" kern="1200" dirty="0" err="1"/>
            <a:t>Applications</a:t>
          </a:r>
          <a:endParaRPr lang="es-ES" sz="1200" kern="1200" dirty="0"/>
        </a:p>
      </dsp:txBody>
      <dsp:txXfrm>
        <a:off x="106721" y="0"/>
        <a:ext cx="2030231" cy="209766"/>
      </dsp:txXfrm>
    </dsp:sp>
    <dsp:sp modelId="{2FF9DE47-C3C4-4BC6-ACC2-9D7160CDCEFE}">
      <dsp:nvSpPr>
        <dsp:cNvPr id="0" name=""/>
        <dsp:cNvSpPr/>
      </dsp:nvSpPr>
      <dsp:spPr>
        <a:xfrm>
          <a:off x="2017836" y="0"/>
          <a:ext cx="2239997" cy="209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s-ES" sz="1200" kern="1200" dirty="0"/>
            <a:t>EIC Final</a:t>
          </a:r>
        </a:p>
      </dsp:txBody>
      <dsp:txXfrm>
        <a:off x="2122719" y="0"/>
        <a:ext cx="2030231" cy="209766"/>
      </dsp:txXfrm>
    </dsp:sp>
    <dsp:sp modelId="{22885339-D2EB-4C16-A44C-00A5B8721E08}">
      <dsp:nvSpPr>
        <dsp:cNvPr id="0" name=""/>
        <dsp:cNvSpPr/>
      </dsp:nvSpPr>
      <dsp:spPr>
        <a:xfrm>
          <a:off x="4035673" y="0"/>
          <a:ext cx="2239997" cy="209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s-ES" sz="1200" kern="1200" dirty="0" err="1"/>
            <a:t>Public</a:t>
          </a:r>
          <a:r>
            <a:rPr lang="es-ES" sz="1200" kern="1200" dirty="0"/>
            <a:t> </a:t>
          </a:r>
          <a:r>
            <a:rPr lang="es-ES" sz="1200" kern="1200" dirty="0" err="1"/>
            <a:t>Fundig</a:t>
          </a:r>
          <a:endParaRPr lang="es-ES" sz="1200" kern="1200" dirty="0"/>
        </a:p>
      </dsp:txBody>
      <dsp:txXfrm>
        <a:off x="4140556" y="0"/>
        <a:ext cx="2030231" cy="20976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361965-60CA-4AAD-B75B-645A930AC528}" type="datetimeFigureOut">
              <a:rPr lang="en-US" smtClean="0"/>
              <a:t>10/1/2025</a:t>
            </a:fld>
            <a:endParaRPr lang="en-US"/>
          </a:p>
        </p:txBody>
      </p:sp>
      <p:sp>
        <p:nvSpPr>
          <p:cNvPr id="4" name="Marcador de imagen de diapositiva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1B800-5FA8-45B2-882F-43DCEBE2C9FB}" type="slidenum">
              <a:rPr lang="en-US" smtClean="0"/>
              <a:t>‹Nº›</a:t>
            </a:fld>
            <a:endParaRPr lang="en-US"/>
          </a:p>
        </p:txBody>
      </p:sp>
    </p:spTree>
    <p:extLst>
      <p:ext uri="{BB962C8B-B14F-4D97-AF65-F5344CB8AC3E}">
        <p14:creationId xmlns:p14="http://schemas.microsoft.com/office/powerpoint/2010/main" val="1878415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E464E31-FE7E-4991-91F7-3DB2956DB3F2}"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2527177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4A4B8FE-6CC8-46EE-847F-CCBAB67F81D8}"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3619824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A2F155A-22EC-446A-B6E9-087C3F379AEE}"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141985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ACE83A4-209C-4AEE-89B8-08717E537BAD}"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244695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472381" y="3618442"/>
            <a:ext cx="2901255" cy="532218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3471863" y="3618442"/>
            <a:ext cx="2915543" cy="532218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895989D-42CB-4776-B237-58B69BF12377}" type="datetime1">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177391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7B9AB8B-0C55-41B6-B06B-B06A47DC4E9B}" type="datetime1">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366629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EEBAA6-37FC-4A74-B79A-2F9A0EAD146B}" type="datetime1">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3245369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F923C5C-A40C-456C-B97F-6F5C4B81CCE2}"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266829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939A6B9-D6BB-4A2A-9C8C-F4F84D31F644}" type="datetime1">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87333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E29D3D4-3D7B-4ACD-A1A0-F0CFBF424AEF}"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173992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D1EE3A-FC45-452B-A980-55B6E0C8CA15}" type="datetime1">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5F90D-6CCB-471F-89CD-46DB18BC9278}" type="slidenum">
              <a:rPr lang="en-US" smtClean="0"/>
              <a:t>‹Nº›</a:t>
            </a:fld>
            <a:endParaRPr lang="en-US"/>
          </a:p>
        </p:txBody>
      </p:sp>
    </p:spTree>
    <p:extLst>
      <p:ext uri="{BB962C8B-B14F-4D97-AF65-F5344CB8AC3E}">
        <p14:creationId xmlns:p14="http://schemas.microsoft.com/office/powerpoint/2010/main" val="1793529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A6E0C56-AB94-4ADF-93C1-E52A3B5783DE}" type="datetime1">
              <a:rPr lang="en-US" smtClean="0"/>
              <a:t>10/1/2025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425F90D-6CCB-471F-89CD-46DB18BC9278}" type="slidenum">
              <a:rPr lang="en-US" smtClean="0"/>
              <a:t>‹Nº›</a:t>
            </a:fld>
            <a:endParaRPr lang="en-US"/>
          </a:p>
        </p:txBody>
      </p:sp>
    </p:spTree>
    <p:extLst>
      <p:ext uri="{BB962C8B-B14F-4D97-AF65-F5344CB8AC3E}">
        <p14:creationId xmlns:p14="http://schemas.microsoft.com/office/powerpoint/2010/main" val="2425905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microsoft.com/office/2007/relationships/diagramDrawing" Target="../diagrams/drawing1.xml"/><Relationship Id="rId18" Type="http://schemas.openxmlformats.org/officeDocument/2006/relationships/image" Target="../media/image13.png"/><Relationship Id="rId3" Type="http://schemas.openxmlformats.org/officeDocument/2006/relationships/image" Target="../media/image3.png"/><Relationship Id="rId21" Type="http://schemas.openxmlformats.org/officeDocument/2006/relationships/image" Target="../media/image16.svg"/><Relationship Id="rId7" Type="http://schemas.openxmlformats.org/officeDocument/2006/relationships/image" Target="../media/image7.png"/><Relationship Id="rId12" Type="http://schemas.openxmlformats.org/officeDocument/2006/relationships/diagramColors" Target="../diagrams/colors1.xml"/><Relationship Id="rId17" Type="http://schemas.openxmlformats.org/officeDocument/2006/relationships/image" Target="../media/image12.svg"/><Relationship Id="rId25" Type="http://schemas.openxmlformats.org/officeDocument/2006/relationships/image" Target="../media/image20.svg"/><Relationship Id="rId2" Type="http://schemas.openxmlformats.org/officeDocument/2006/relationships/image" Target="../media/image1.jpg"/><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diagramQuickStyle" Target="../diagrams/quickStyle1.xml"/><Relationship Id="rId24" Type="http://schemas.openxmlformats.org/officeDocument/2006/relationships/image" Target="../media/image19.png"/><Relationship Id="rId5" Type="http://schemas.openxmlformats.org/officeDocument/2006/relationships/image" Target="../media/image5.png"/><Relationship Id="rId15" Type="http://schemas.openxmlformats.org/officeDocument/2006/relationships/image" Target="../media/image10.svg"/><Relationship Id="rId23" Type="http://schemas.openxmlformats.org/officeDocument/2006/relationships/image" Target="../media/image18.svg"/><Relationship Id="rId10" Type="http://schemas.openxmlformats.org/officeDocument/2006/relationships/diagramLayout" Target="../diagrams/layout1.xml"/><Relationship Id="rId19" Type="http://schemas.openxmlformats.org/officeDocument/2006/relationships/image" Target="../media/image14.svg"/><Relationship Id="rId4" Type="http://schemas.openxmlformats.org/officeDocument/2006/relationships/image" Target="../media/image4.svg"/><Relationship Id="rId9" Type="http://schemas.openxmlformats.org/officeDocument/2006/relationships/diagramData" Target="../diagrams/data1.xml"/><Relationship Id="rId14" Type="http://schemas.openxmlformats.org/officeDocument/2006/relationships/image" Target="../media/image9.png"/><Relationship Id="rId22"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7.png"/><Relationship Id="rId3" Type="http://schemas.openxmlformats.org/officeDocument/2006/relationships/diagramLayout" Target="../diagrams/layout2.xml"/><Relationship Id="rId7" Type="http://schemas.openxmlformats.org/officeDocument/2006/relationships/image" Target="../media/image21.png"/><Relationship Id="rId12" Type="http://schemas.openxmlformats.org/officeDocument/2006/relationships/image" Target="../media/image26.jpe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image" Target="../media/image25.jpeg"/><Relationship Id="rId5" Type="http://schemas.openxmlformats.org/officeDocument/2006/relationships/diagramColors" Target="../diagrams/colors2.xml"/><Relationship Id="rId10" Type="http://schemas.openxmlformats.org/officeDocument/2006/relationships/image" Target="../media/image24.png"/><Relationship Id="rId4" Type="http://schemas.openxmlformats.org/officeDocument/2006/relationships/diagramQuickStyle" Target="../diagrams/quickStyle2.xml"/><Relationship Id="rId9" Type="http://schemas.openxmlformats.org/officeDocument/2006/relationships/image" Target="../media/image23.jpe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5" Type="http://schemas.openxmlformats.org/officeDocument/2006/relationships/image" Target="../media/image4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 Id="rId14"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xml"/><Relationship Id="rId5" Type="http://schemas.openxmlformats.org/officeDocument/2006/relationships/image" Target="../media/image41.sv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 dibujo de una persona&#10;&#10;Descripción generada automáticamente con confianza baja">
            <a:extLst>
              <a:ext uri="{FF2B5EF4-FFF2-40B4-BE49-F238E27FC236}">
                <a16:creationId xmlns:a16="http://schemas.microsoft.com/office/drawing/2014/main" id="{15579302-F941-C426-FF3E-1E45A20C8DD7}"/>
              </a:ext>
            </a:extLst>
          </p:cNvPr>
          <p:cNvPicPr>
            <a:picLocks noChangeAspect="1"/>
          </p:cNvPicPr>
          <p:nvPr/>
        </p:nvPicPr>
        <p:blipFill rotWithShape="1">
          <a:blip r:embed="rId2">
            <a:extLst>
              <a:ext uri="{28A0092B-C50C-407E-A947-70E740481C1C}">
                <a14:useLocalDpi xmlns:a14="http://schemas.microsoft.com/office/drawing/2010/main" val="0"/>
              </a:ext>
            </a:extLst>
          </a:blip>
          <a:srcRect l="24283" r="34179"/>
          <a:stretch/>
        </p:blipFill>
        <p:spPr>
          <a:xfrm>
            <a:off x="20" y="0"/>
            <a:ext cx="6857980" cy="9905990"/>
          </a:xfrm>
          <a:prstGeom prst="rect">
            <a:avLst/>
          </a:prstGeom>
        </p:spPr>
      </p:pic>
      <p:pic>
        <p:nvPicPr>
          <p:cNvPr id="7" name="Imagen 6" descr="Imagen que contiene objeto, reloj, dibujo&#10;&#10;Descripción generada automáticamente">
            <a:extLst>
              <a:ext uri="{FF2B5EF4-FFF2-40B4-BE49-F238E27FC236}">
                <a16:creationId xmlns:a16="http://schemas.microsoft.com/office/drawing/2014/main" id="{8EDC6742-E987-00D0-9957-13BB1EF07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597" y="209528"/>
            <a:ext cx="2666925" cy="897056"/>
          </a:xfrm>
          <a:prstGeom prst="rect">
            <a:avLst/>
          </a:prstGeom>
        </p:spPr>
      </p:pic>
      <p:sp>
        <p:nvSpPr>
          <p:cNvPr id="11" name="Rectángulo 10">
            <a:extLst>
              <a:ext uri="{FF2B5EF4-FFF2-40B4-BE49-F238E27FC236}">
                <a16:creationId xmlns:a16="http://schemas.microsoft.com/office/drawing/2014/main" id="{80C5BF8E-1B72-B01B-08D8-E50F56436A7A}"/>
              </a:ext>
            </a:extLst>
          </p:cNvPr>
          <p:cNvSpPr/>
          <p:nvPr/>
        </p:nvSpPr>
        <p:spPr>
          <a:xfrm>
            <a:off x="20" y="7014255"/>
            <a:ext cx="6857980" cy="1261641"/>
          </a:xfrm>
          <a:prstGeom prst="rect">
            <a:avLst/>
          </a:prstGeom>
          <a:solidFill>
            <a:srgbClr val="142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ángulo isósceles 11">
            <a:extLst>
              <a:ext uri="{FF2B5EF4-FFF2-40B4-BE49-F238E27FC236}">
                <a16:creationId xmlns:a16="http://schemas.microsoft.com/office/drawing/2014/main" id="{38C5115A-6ACB-5104-5A9C-45DE1B3430D5}"/>
              </a:ext>
            </a:extLst>
          </p:cNvPr>
          <p:cNvSpPr/>
          <p:nvPr/>
        </p:nvSpPr>
        <p:spPr>
          <a:xfrm>
            <a:off x="2087676" y="6377648"/>
            <a:ext cx="829146" cy="636607"/>
          </a:xfrm>
          <a:prstGeom prst="triangle">
            <a:avLst/>
          </a:prstGeom>
          <a:solidFill>
            <a:srgbClr val="142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ángulo 12">
            <a:extLst>
              <a:ext uri="{FF2B5EF4-FFF2-40B4-BE49-F238E27FC236}">
                <a16:creationId xmlns:a16="http://schemas.microsoft.com/office/drawing/2014/main" id="{43F0CA09-9F67-B345-847E-9ADDCAFE3EC4}"/>
              </a:ext>
            </a:extLst>
          </p:cNvPr>
          <p:cNvSpPr/>
          <p:nvPr/>
        </p:nvSpPr>
        <p:spPr>
          <a:xfrm>
            <a:off x="2505919" y="6391151"/>
            <a:ext cx="4352081" cy="1261641"/>
          </a:xfrm>
          <a:prstGeom prst="rect">
            <a:avLst/>
          </a:prstGeom>
          <a:solidFill>
            <a:srgbClr val="142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62AEEE2F-EC90-13B5-0EA9-246BEE392D9A}"/>
              </a:ext>
            </a:extLst>
          </p:cNvPr>
          <p:cNvSpPr txBox="1"/>
          <p:nvPr/>
        </p:nvSpPr>
        <p:spPr>
          <a:xfrm>
            <a:off x="203598" y="6914546"/>
            <a:ext cx="6415566" cy="923330"/>
          </a:xfrm>
          <a:prstGeom prst="rect">
            <a:avLst/>
          </a:prstGeom>
          <a:noFill/>
        </p:spPr>
        <p:txBody>
          <a:bodyPr wrap="square" rtlCol="0">
            <a:spAutoFit/>
          </a:bodyPr>
          <a:lstStyle/>
          <a:p>
            <a:pPr algn="ctr"/>
            <a:r>
              <a:rPr lang="es-ES" sz="5400" b="1" dirty="0">
                <a:solidFill>
                  <a:schemeClr val="bg1"/>
                </a:solidFill>
                <a:latin typeface="Roboto" panose="02000000000000000000" pitchFamily="2" charset="0"/>
                <a:ea typeface="Roboto" panose="02000000000000000000" pitchFamily="2" charset="0"/>
              </a:rPr>
              <a:t>EIC </a:t>
            </a:r>
            <a:r>
              <a:rPr lang="es-ES" sz="4000" b="1" dirty="0">
                <a:solidFill>
                  <a:schemeClr val="bg1"/>
                </a:solidFill>
                <a:latin typeface="Roboto" panose="02000000000000000000" pitchFamily="2" charset="0"/>
                <a:ea typeface="Roboto" panose="02000000000000000000" pitchFamily="2" charset="0"/>
              </a:rPr>
              <a:t>–</a:t>
            </a:r>
            <a:r>
              <a:rPr lang="es-ES" sz="4800" b="1" dirty="0">
                <a:solidFill>
                  <a:schemeClr val="bg1"/>
                </a:solidFill>
                <a:latin typeface="Roboto" panose="02000000000000000000" pitchFamily="2" charset="0"/>
                <a:ea typeface="Roboto" panose="02000000000000000000" pitchFamily="2" charset="0"/>
              </a:rPr>
              <a:t> 2025</a:t>
            </a:r>
            <a:endParaRPr lang="en-US" sz="1050" b="1" dirty="0">
              <a:solidFill>
                <a:schemeClr val="bg1"/>
              </a:solidFill>
              <a:latin typeface="Roboto" panose="02000000000000000000" pitchFamily="2" charset="0"/>
              <a:ea typeface="Roboto" panose="02000000000000000000" pitchFamily="2" charset="0"/>
            </a:endParaRPr>
          </a:p>
        </p:txBody>
      </p:sp>
      <p:sp>
        <p:nvSpPr>
          <p:cNvPr id="15" name="CuadroTexto 14">
            <a:extLst>
              <a:ext uri="{FF2B5EF4-FFF2-40B4-BE49-F238E27FC236}">
                <a16:creationId xmlns:a16="http://schemas.microsoft.com/office/drawing/2014/main" id="{208778AB-56E6-9EFA-3600-2BE7A6D3E446}"/>
              </a:ext>
            </a:extLst>
          </p:cNvPr>
          <p:cNvSpPr txBox="1"/>
          <p:nvPr/>
        </p:nvSpPr>
        <p:spPr>
          <a:xfrm>
            <a:off x="2476982" y="6400738"/>
            <a:ext cx="3980137" cy="523220"/>
          </a:xfrm>
          <a:prstGeom prst="rect">
            <a:avLst/>
          </a:prstGeom>
          <a:noFill/>
        </p:spPr>
        <p:txBody>
          <a:bodyPr wrap="square" rtlCol="0">
            <a:spAutoFit/>
          </a:bodyPr>
          <a:lstStyle/>
          <a:p>
            <a:pPr algn="ctr"/>
            <a:r>
              <a:rPr lang="en-US" sz="2800" dirty="0">
                <a:solidFill>
                  <a:schemeClr val="bg1"/>
                </a:solidFill>
                <a:latin typeface="Roboto" panose="02000000000000000000" pitchFamily="2" charset="0"/>
                <a:ea typeface="Roboto" panose="02000000000000000000" pitchFamily="2" charset="0"/>
              </a:rPr>
              <a:t>{{COMPANY_NAME}}</a:t>
            </a:r>
          </a:p>
        </p:txBody>
      </p:sp>
      <p:sp>
        <p:nvSpPr>
          <p:cNvPr id="16" name="Rectángulo 15">
            <a:extLst>
              <a:ext uri="{FF2B5EF4-FFF2-40B4-BE49-F238E27FC236}">
                <a16:creationId xmlns:a16="http://schemas.microsoft.com/office/drawing/2014/main" id="{0C5FA585-C3F2-D90B-AB42-EF3F273F945D}"/>
              </a:ext>
            </a:extLst>
          </p:cNvPr>
          <p:cNvSpPr/>
          <p:nvPr/>
        </p:nvSpPr>
        <p:spPr>
          <a:xfrm>
            <a:off x="20" y="8243160"/>
            <a:ext cx="6857980" cy="98396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Conector recto 21">
            <a:extLst>
              <a:ext uri="{FF2B5EF4-FFF2-40B4-BE49-F238E27FC236}">
                <a16:creationId xmlns:a16="http://schemas.microsoft.com/office/drawing/2014/main" id="{7C07B5C4-9AD6-9DA5-CD94-8E052C723879}"/>
              </a:ext>
            </a:extLst>
          </p:cNvPr>
          <p:cNvCxnSpPr>
            <a:cxnSpLocks/>
          </p:cNvCxnSpPr>
          <p:nvPr/>
        </p:nvCxnSpPr>
        <p:spPr>
          <a:xfrm>
            <a:off x="497224" y="8277823"/>
            <a:ext cx="0" cy="799675"/>
          </a:xfrm>
          <a:prstGeom prst="line">
            <a:avLst/>
          </a:prstGeom>
          <a:ln w="38100">
            <a:solidFill>
              <a:srgbClr val="9E21B7"/>
            </a:solidFill>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356EFF43-D639-CF19-90A7-0D6EC48B299F}"/>
              </a:ext>
            </a:extLst>
          </p:cNvPr>
          <p:cNvSpPr txBox="1"/>
          <p:nvPr/>
        </p:nvSpPr>
        <p:spPr>
          <a:xfrm>
            <a:off x="606830" y="8300971"/>
            <a:ext cx="6204337" cy="707886"/>
          </a:xfrm>
          <a:prstGeom prst="rect">
            <a:avLst/>
          </a:prstGeom>
          <a:noFill/>
        </p:spPr>
        <p:txBody>
          <a:bodyPr wrap="square" rtlCol="0">
            <a:spAutoFit/>
          </a:bodyPr>
          <a:lstStyle/>
          <a:p>
            <a:pPr algn="just"/>
            <a:r>
              <a:rPr lang="en-US" sz="1000" b="1" dirty="0">
                <a:latin typeface="Century Gothic" panose="020B0502020202020204" pitchFamily="34" charset="0"/>
              </a:rPr>
              <a:t>Statement of Confidentiality</a:t>
            </a:r>
          </a:p>
          <a:p>
            <a:pPr algn="just"/>
            <a:r>
              <a:rPr lang="en-US" sz="1000" dirty="0">
                <a:latin typeface="Century Gothic" panose="020B0502020202020204" pitchFamily="34" charset="0"/>
              </a:rPr>
              <a:t>The information shared in this collaboration proposal is considered confidential and proprietary. The reader agrees to treat this information with the utmost confidentiality and not to disclose it to any third parties without prior written consent from Silicon Capital.</a:t>
            </a:r>
            <a:endParaRPr lang="en-US" sz="1100" b="1" dirty="0">
              <a:latin typeface="Century Gothic" panose="020B0502020202020204" pitchFamily="34" charset="0"/>
            </a:endParaRPr>
          </a:p>
        </p:txBody>
      </p:sp>
      <p:sp>
        <p:nvSpPr>
          <p:cNvPr id="2" name="CuadroTexto 1">
            <a:extLst>
              <a:ext uri="{FF2B5EF4-FFF2-40B4-BE49-F238E27FC236}">
                <a16:creationId xmlns:a16="http://schemas.microsoft.com/office/drawing/2014/main" id="{57D635F0-6BC5-B199-02E8-0F3D44F4DD76}"/>
              </a:ext>
            </a:extLst>
          </p:cNvPr>
          <p:cNvSpPr txBox="1"/>
          <p:nvPr/>
        </p:nvSpPr>
        <p:spPr>
          <a:xfrm>
            <a:off x="478421" y="7617114"/>
            <a:ext cx="5978698" cy="523220"/>
          </a:xfrm>
          <a:prstGeom prst="rect">
            <a:avLst/>
          </a:prstGeom>
          <a:noFill/>
        </p:spPr>
        <p:txBody>
          <a:bodyPr wrap="square" rtlCol="0">
            <a:spAutoFit/>
          </a:bodyPr>
          <a:lstStyle/>
          <a:p>
            <a:pPr algn="ctr"/>
            <a:r>
              <a:rPr lang="es-ES" sz="2800" dirty="0">
                <a:solidFill>
                  <a:schemeClr val="bg1"/>
                </a:solidFill>
                <a:latin typeface="Roboto" panose="02000000000000000000" pitchFamily="2" charset="0"/>
                <a:ea typeface="Roboto" panose="02000000000000000000" pitchFamily="2" charset="0"/>
              </a:rPr>
              <a:t>INVESTMENT ADVISORY</a:t>
            </a:r>
            <a:endParaRPr lang="en-US" sz="7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08735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E21B7"/>
        </a:solidFill>
        <a:effectLst/>
      </p:bgPr>
    </p:bg>
    <p:spTree>
      <p:nvGrpSpPr>
        <p:cNvPr id="1" name=""/>
        <p:cNvGrpSpPr/>
        <p:nvPr/>
      </p:nvGrpSpPr>
      <p:grpSpPr>
        <a:xfrm>
          <a:off x="0" y="0"/>
          <a:ext cx="0" cy="0"/>
          <a:chOff x="0" y="0"/>
          <a:chExt cx="0" cy="0"/>
        </a:xfrm>
      </p:grpSpPr>
      <p:pic>
        <p:nvPicPr>
          <p:cNvPr id="13" name="Imagen 12" descr="Un dibujo de una persona&#10;&#10;Descripción generada automáticamente con confianza baja">
            <a:extLst>
              <a:ext uri="{FF2B5EF4-FFF2-40B4-BE49-F238E27FC236}">
                <a16:creationId xmlns:a16="http://schemas.microsoft.com/office/drawing/2014/main" id="{F6973F91-E7CC-E452-7826-50D9ACF6082D}"/>
              </a:ext>
            </a:extLst>
          </p:cNvPr>
          <p:cNvPicPr>
            <a:picLocks noChangeAspect="1"/>
          </p:cNvPicPr>
          <p:nvPr/>
        </p:nvPicPr>
        <p:blipFill rotWithShape="1">
          <a:blip r:embed="rId2">
            <a:extLst>
              <a:ext uri="{28A0092B-C50C-407E-A947-70E740481C1C}">
                <a14:useLocalDpi xmlns:a14="http://schemas.microsoft.com/office/drawing/2010/main" val="0"/>
              </a:ext>
            </a:extLst>
          </a:blip>
          <a:srcRect l="24283" r="34179"/>
          <a:stretch/>
        </p:blipFill>
        <p:spPr>
          <a:xfrm>
            <a:off x="20" y="0"/>
            <a:ext cx="6857980" cy="9905990"/>
          </a:xfrm>
          <a:prstGeom prst="rect">
            <a:avLst/>
          </a:prstGeom>
        </p:spPr>
      </p:pic>
      <p:sp>
        <p:nvSpPr>
          <p:cNvPr id="14" name="Rectángulo 13">
            <a:extLst>
              <a:ext uri="{FF2B5EF4-FFF2-40B4-BE49-F238E27FC236}">
                <a16:creationId xmlns:a16="http://schemas.microsoft.com/office/drawing/2014/main" id="{10832DCA-CFB2-4973-8E68-CFAEA324B9AD}"/>
              </a:ext>
            </a:extLst>
          </p:cNvPr>
          <p:cNvSpPr/>
          <p:nvPr/>
        </p:nvSpPr>
        <p:spPr>
          <a:xfrm>
            <a:off x="-13170" y="1"/>
            <a:ext cx="6858000" cy="990599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ángulo: esquinas redondeadas 2">
            <a:extLst>
              <a:ext uri="{FF2B5EF4-FFF2-40B4-BE49-F238E27FC236}">
                <a16:creationId xmlns:a16="http://schemas.microsoft.com/office/drawing/2014/main" id="{57A0E786-75BD-793E-0C3E-692C742E2DCD}"/>
              </a:ext>
            </a:extLst>
          </p:cNvPr>
          <p:cNvSpPr/>
          <p:nvPr/>
        </p:nvSpPr>
        <p:spPr>
          <a:xfrm>
            <a:off x="152186" y="826022"/>
            <a:ext cx="6553628" cy="6072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C16B8D8B-FC65-5475-4213-5DE87464883B}"/>
              </a:ext>
            </a:extLst>
          </p:cNvPr>
          <p:cNvSpPr txBox="1"/>
          <p:nvPr/>
        </p:nvSpPr>
        <p:spPr>
          <a:xfrm>
            <a:off x="139016" y="835769"/>
            <a:ext cx="6553628" cy="597536"/>
          </a:xfrm>
          <a:prstGeom prst="rect">
            <a:avLst/>
          </a:prstGeom>
          <a:noFill/>
        </p:spPr>
        <p:txBody>
          <a:bodyPr wrap="square" rtlCol="0">
            <a:spAutoFit/>
          </a:bodyPr>
          <a:lstStyle/>
          <a:p>
            <a:pPr algn="just">
              <a:lnSpc>
                <a:spcPct val="107000"/>
              </a:lnSpc>
              <a:spcAft>
                <a:spcPts val="800"/>
              </a:spcAft>
            </a:pPr>
            <a:r>
              <a:rPr lang="en-US" sz="1050" dirty="0">
                <a:solidFill>
                  <a:srgbClr val="142542"/>
                </a:solidFill>
                <a:latin typeface="Century Gothic" panose="020B0502020202020204" pitchFamily="34" charset="0"/>
              </a:rPr>
              <a:t>The </a:t>
            </a:r>
            <a:r>
              <a:rPr lang="en-US" sz="1050" b="1" dirty="0">
                <a:solidFill>
                  <a:srgbClr val="142542"/>
                </a:solidFill>
                <a:latin typeface="Century Gothic" panose="020B0502020202020204" pitchFamily="34" charset="0"/>
              </a:rPr>
              <a:t>EIC Accelerator </a:t>
            </a:r>
            <a:r>
              <a:rPr lang="en-US" sz="1050" dirty="0">
                <a:solidFill>
                  <a:srgbClr val="142542"/>
                </a:solidFill>
                <a:latin typeface="Century Gothic" panose="020B0502020202020204" pitchFamily="34" charset="0"/>
              </a:rPr>
              <a:t>is a European Commission program that </a:t>
            </a:r>
            <a:r>
              <a:rPr lang="en-US" sz="1050" b="1" dirty="0">
                <a:solidFill>
                  <a:srgbClr val="142542"/>
                </a:solidFill>
                <a:latin typeface="Century Gothic" panose="020B0502020202020204" pitchFamily="34" charset="0"/>
              </a:rPr>
              <a:t>funds startups and SMEs </a:t>
            </a:r>
            <a:r>
              <a:rPr lang="en-US" sz="1050" dirty="0">
                <a:solidFill>
                  <a:srgbClr val="142542"/>
                </a:solidFill>
                <a:latin typeface="Century Gothic" panose="020B0502020202020204" pitchFamily="34" charset="0"/>
              </a:rPr>
              <a:t>with </a:t>
            </a:r>
            <a:r>
              <a:rPr lang="en-US" sz="1050" b="1" dirty="0">
                <a:solidFill>
                  <a:srgbClr val="142542"/>
                </a:solidFill>
                <a:latin typeface="Century Gothic" panose="020B0502020202020204" pitchFamily="34" charset="0"/>
              </a:rPr>
              <a:t>high-risk, high-impact disruptive innovations</a:t>
            </a:r>
            <a:r>
              <a:rPr lang="en-US" sz="1050" dirty="0">
                <a:solidFill>
                  <a:srgbClr val="142542"/>
                </a:solidFill>
                <a:latin typeface="Century Gothic" panose="020B0502020202020204" pitchFamily="34" charset="0"/>
              </a:rPr>
              <a:t>. It focuses on deep </a:t>
            </a:r>
            <a:r>
              <a:rPr lang="en-US" sz="1050" b="1" dirty="0">
                <a:solidFill>
                  <a:srgbClr val="142542"/>
                </a:solidFill>
                <a:latin typeface="Century Gothic" panose="020B0502020202020204" pitchFamily="34" charset="0"/>
              </a:rPr>
              <a:t>tech projects </a:t>
            </a:r>
            <a:r>
              <a:rPr lang="en-US" sz="1050" dirty="0">
                <a:solidFill>
                  <a:srgbClr val="142542"/>
                </a:solidFill>
                <a:latin typeface="Century Gothic" panose="020B0502020202020204" pitchFamily="34" charset="0"/>
              </a:rPr>
              <a:t>that, due to their complexity, </a:t>
            </a:r>
            <a:r>
              <a:rPr lang="en-US" sz="1050" b="1" dirty="0">
                <a:solidFill>
                  <a:srgbClr val="142542"/>
                </a:solidFill>
                <a:latin typeface="Century Gothic" panose="020B0502020202020204" pitchFamily="34" charset="0"/>
              </a:rPr>
              <a:t>face challenges in attracting private funding</a:t>
            </a:r>
            <a:r>
              <a:rPr lang="en-US" sz="1050" dirty="0">
                <a:solidFill>
                  <a:srgbClr val="142542"/>
                </a:solidFill>
                <a:latin typeface="Century Gothic" panose="020B0502020202020204" pitchFamily="34" charset="0"/>
              </a:rPr>
              <a:t>.</a:t>
            </a:r>
          </a:p>
        </p:txBody>
      </p:sp>
      <p:sp>
        <p:nvSpPr>
          <p:cNvPr id="5" name="CuadroTexto 4">
            <a:extLst>
              <a:ext uri="{FF2B5EF4-FFF2-40B4-BE49-F238E27FC236}">
                <a16:creationId xmlns:a16="http://schemas.microsoft.com/office/drawing/2014/main" id="{D04615EF-DD47-E943-CC6E-2B5A8D41F6E3}"/>
              </a:ext>
            </a:extLst>
          </p:cNvPr>
          <p:cNvSpPr txBox="1"/>
          <p:nvPr/>
        </p:nvSpPr>
        <p:spPr>
          <a:xfrm>
            <a:off x="152186" y="567490"/>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ABOUT THE EIC ACCELERATOR</a:t>
            </a:r>
          </a:p>
        </p:txBody>
      </p:sp>
      <p:sp>
        <p:nvSpPr>
          <p:cNvPr id="7" name="Rectángulo: esquinas redondeadas 6">
            <a:extLst>
              <a:ext uri="{FF2B5EF4-FFF2-40B4-BE49-F238E27FC236}">
                <a16:creationId xmlns:a16="http://schemas.microsoft.com/office/drawing/2014/main" id="{435F9A45-39CC-5095-690B-10C938233233}"/>
              </a:ext>
            </a:extLst>
          </p:cNvPr>
          <p:cNvSpPr/>
          <p:nvPr/>
        </p:nvSpPr>
        <p:spPr>
          <a:xfrm>
            <a:off x="152165" y="3466909"/>
            <a:ext cx="6540479" cy="11918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7937726C-CBCC-6FEF-685E-F4E5BC445AF6}"/>
              </a:ext>
            </a:extLst>
          </p:cNvPr>
          <p:cNvSpPr/>
          <p:nvPr/>
        </p:nvSpPr>
        <p:spPr>
          <a:xfrm>
            <a:off x="152186" y="1828112"/>
            <a:ext cx="3276814" cy="12627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06B495DA-88F8-AD6B-D0D8-AFA1AF9A76D1}"/>
              </a:ext>
            </a:extLst>
          </p:cNvPr>
          <p:cNvSpPr txBox="1"/>
          <p:nvPr/>
        </p:nvSpPr>
        <p:spPr>
          <a:xfrm>
            <a:off x="154459" y="1565418"/>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KEY BENEFITS</a:t>
            </a:r>
          </a:p>
        </p:txBody>
      </p:sp>
      <p:sp>
        <p:nvSpPr>
          <p:cNvPr id="17" name="CuadroTexto 16">
            <a:extLst>
              <a:ext uri="{FF2B5EF4-FFF2-40B4-BE49-F238E27FC236}">
                <a16:creationId xmlns:a16="http://schemas.microsoft.com/office/drawing/2014/main" id="{5550AE9E-6A44-2BDC-9777-E76834243322}"/>
              </a:ext>
            </a:extLst>
          </p:cNvPr>
          <p:cNvSpPr txBox="1"/>
          <p:nvPr/>
        </p:nvSpPr>
        <p:spPr>
          <a:xfrm>
            <a:off x="152186" y="1790665"/>
            <a:ext cx="3276814" cy="307777"/>
          </a:xfrm>
          <a:prstGeom prst="rect">
            <a:avLst/>
          </a:prstGeom>
          <a:noFill/>
        </p:spPr>
        <p:txBody>
          <a:bodyPr wrap="square" rtlCol="0">
            <a:spAutoFit/>
          </a:bodyPr>
          <a:lstStyle/>
          <a:p>
            <a:pPr algn="just"/>
            <a:r>
              <a:rPr lang="es-ES" sz="1400" b="1" dirty="0">
                <a:solidFill>
                  <a:srgbClr val="142542"/>
                </a:solidFill>
                <a:latin typeface="Century Gothic" panose="020B0502020202020204" pitchFamily="34" charset="0"/>
              </a:rPr>
              <a:t>MIXED FUNDING</a:t>
            </a:r>
          </a:p>
        </p:txBody>
      </p:sp>
      <p:sp>
        <p:nvSpPr>
          <p:cNvPr id="18" name="CuadroTexto 17">
            <a:extLst>
              <a:ext uri="{FF2B5EF4-FFF2-40B4-BE49-F238E27FC236}">
                <a16:creationId xmlns:a16="http://schemas.microsoft.com/office/drawing/2014/main" id="{7BC300EC-6F43-AF9D-EEA4-6E26C9DB8E82}"/>
              </a:ext>
            </a:extLst>
          </p:cNvPr>
          <p:cNvSpPr txBox="1"/>
          <p:nvPr/>
        </p:nvSpPr>
        <p:spPr>
          <a:xfrm>
            <a:off x="221694" y="2015756"/>
            <a:ext cx="3276814" cy="400110"/>
          </a:xfrm>
          <a:prstGeom prst="rect">
            <a:avLst/>
          </a:prstGeom>
          <a:noFill/>
        </p:spPr>
        <p:txBody>
          <a:bodyPr wrap="square" rtlCol="0">
            <a:spAutoFit/>
          </a:bodyPr>
          <a:lstStyle/>
          <a:p>
            <a:pPr algn="just"/>
            <a:r>
              <a:rPr lang="es-ES" sz="1400" b="1" dirty="0">
                <a:solidFill>
                  <a:srgbClr val="142542"/>
                </a:solidFill>
                <a:latin typeface="Century Gothic" panose="020B0502020202020204" pitchFamily="34" charset="0"/>
              </a:rPr>
              <a:t>GRANT</a:t>
            </a:r>
            <a:r>
              <a:rPr lang="es-ES" sz="1100" b="1" dirty="0">
                <a:solidFill>
                  <a:srgbClr val="142542"/>
                </a:solidFill>
                <a:latin typeface="Century Gothic" panose="020B0502020202020204" pitchFamily="34" charset="0"/>
              </a:rPr>
              <a:t>: </a:t>
            </a:r>
            <a:r>
              <a:rPr lang="es-ES" sz="1100" dirty="0">
                <a:solidFill>
                  <a:srgbClr val="142542"/>
                </a:solidFill>
                <a:latin typeface="Century Gothic" panose="020B0502020202020204" pitchFamily="34" charset="0"/>
              </a:rPr>
              <a:t>up </a:t>
            </a:r>
            <a:r>
              <a:rPr lang="es-ES" sz="1100" dirty="0" err="1">
                <a:solidFill>
                  <a:srgbClr val="142542"/>
                </a:solidFill>
                <a:latin typeface="Century Gothic" panose="020B0502020202020204" pitchFamily="34" charset="0"/>
              </a:rPr>
              <a:t>to</a:t>
            </a:r>
            <a:r>
              <a:rPr lang="es-ES" sz="1100" dirty="0">
                <a:solidFill>
                  <a:srgbClr val="142542"/>
                </a:solidFill>
                <a:latin typeface="Century Gothic" panose="020B0502020202020204" pitchFamily="34" charset="0"/>
              </a:rPr>
              <a:t> </a:t>
            </a:r>
            <a:r>
              <a:rPr lang="es-ES" sz="2000" b="1" dirty="0">
                <a:solidFill>
                  <a:srgbClr val="142542"/>
                </a:solidFill>
                <a:latin typeface="Century Gothic" panose="020B0502020202020204" pitchFamily="34" charset="0"/>
              </a:rPr>
              <a:t>€2,5M </a:t>
            </a:r>
            <a:r>
              <a:rPr lang="es-ES" sz="1400" dirty="0">
                <a:solidFill>
                  <a:srgbClr val="142542"/>
                </a:solidFill>
                <a:latin typeface="Century Gothic" panose="020B0502020202020204" pitchFamily="34" charset="0"/>
              </a:rPr>
              <a:t>(TRL 6-8)</a:t>
            </a:r>
            <a:endParaRPr lang="es-ES" sz="1100" dirty="0">
              <a:solidFill>
                <a:srgbClr val="142542"/>
              </a:solidFill>
              <a:latin typeface="Century Gothic" panose="020B0502020202020204" pitchFamily="34" charset="0"/>
            </a:endParaRPr>
          </a:p>
        </p:txBody>
      </p:sp>
      <p:sp>
        <p:nvSpPr>
          <p:cNvPr id="19" name="CuadroTexto 18">
            <a:extLst>
              <a:ext uri="{FF2B5EF4-FFF2-40B4-BE49-F238E27FC236}">
                <a16:creationId xmlns:a16="http://schemas.microsoft.com/office/drawing/2014/main" id="{DE25818C-A57F-5F1E-6974-339BAAB188DF}"/>
              </a:ext>
            </a:extLst>
          </p:cNvPr>
          <p:cNvSpPr txBox="1"/>
          <p:nvPr/>
        </p:nvSpPr>
        <p:spPr>
          <a:xfrm>
            <a:off x="221694" y="2375423"/>
            <a:ext cx="3276814" cy="400110"/>
          </a:xfrm>
          <a:prstGeom prst="rect">
            <a:avLst/>
          </a:prstGeom>
          <a:noFill/>
        </p:spPr>
        <p:txBody>
          <a:bodyPr wrap="square" rtlCol="0">
            <a:spAutoFit/>
          </a:bodyPr>
          <a:lstStyle/>
          <a:p>
            <a:pPr algn="just"/>
            <a:r>
              <a:rPr lang="es-ES" sz="1400" b="1" dirty="0">
                <a:solidFill>
                  <a:srgbClr val="142542"/>
                </a:solidFill>
                <a:latin typeface="Century Gothic" panose="020B0502020202020204" pitchFamily="34" charset="0"/>
              </a:rPr>
              <a:t>EQUITY</a:t>
            </a:r>
            <a:r>
              <a:rPr lang="es-ES" sz="1100" b="1" dirty="0">
                <a:solidFill>
                  <a:srgbClr val="142542"/>
                </a:solidFill>
                <a:latin typeface="Century Gothic" panose="020B0502020202020204" pitchFamily="34" charset="0"/>
              </a:rPr>
              <a:t>: </a:t>
            </a:r>
            <a:r>
              <a:rPr lang="es-ES" sz="1100" dirty="0">
                <a:solidFill>
                  <a:srgbClr val="142542"/>
                </a:solidFill>
                <a:latin typeface="Century Gothic" panose="020B0502020202020204" pitchFamily="34" charset="0"/>
              </a:rPr>
              <a:t>up </a:t>
            </a:r>
            <a:r>
              <a:rPr lang="es-ES" sz="1100" dirty="0" err="1">
                <a:solidFill>
                  <a:srgbClr val="142542"/>
                </a:solidFill>
                <a:latin typeface="Century Gothic" panose="020B0502020202020204" pitchFamily="34" charset="0"/>
              </a:rPr>
              <a:t>to</a:t>
            </a:r>
            <a:r>
              <a:rPr lang="es-ES" sz="1100" dirty="0">
                <a:solidFill>
                  <a:srgbClr val="142542"/>
                </a:solidFill>
                <a:latin typeface="Century Gothic" panose="020B0502020202020204" pitchFamily="34" charset="0"/>
              </a:rPr>
              <a:t> </a:t>
            </a:r>
            <a:r>
              <a:rPr lang="es-ES" sz="2000" b="1" dirty="0">
                <a:solidFill>
                  <a:srgbClr val="142542"/>
                </a:solidFill>
                <a:latin typeface="Century Gothic" panose="020B0502020202020204" pitchFamily="34" charset="0"/>
              </a:rPr>
              <a:t>€10M </a:t>
            </a:r>
            <a:r>
              <a:rPr lang="es-ES" sz="1400" b="1" dirty="0">
                <a:solidFill>
                  <a:srgbClr val="142542"/>
                </a:solidFill>
                <a:latin typeface="Century Gothic" panose="020B0502020202020204" pitchFamily="34" charset="0"/>
              </a:rPr>
              <a:t>+ €2M </a:t>
            </a:r>
            <a:r>
              <a:rPr lang="es-ES" sz="1400" dirty="0">
                <a:solidFill>
                  <a:srgbClr val="142542"/>
                </a:solidFill>
                <a:latin typeface="Century Gothic" panose="020B0502020202020204" pitchFamily="34" charset="0"/>
              </a:rPr>
              <a:t>(TRL 8-9)</a:t>
            </a:r>
            <a:endParaRPr lang="es-ES" sz="1100" dirty="0">
              <a:solidFill>
                <a:srgbClr val="142542"/>
              </a:solidFill>
              <a:latin typeface="Century Gothic" panose="020B0502020202020204" pitchFamily="34" charset="0"/>
            </a:endParaRPr>
          </a:p>
        </p:txBody>
      </p:sp>
      <p:sp>
        <p:nvSpPr>
          <p:cNvPr id="20" name="CuadroTexto 19">
            <a:extLst>
              <a:ext uri="{FF2B5EF4-FFF2-40B4-BE49-F238E27FC236}">
                <a16:creationId xmlns:a16="http://schemas.microsoft.com/office/drawing/2014/main" id="{48B2215D-A7C2-7EB6-D52D-F72F59FF49A5}"/>
              </a:ext>
            </a:extLst>
          </p:cNvPr>
          <p:cNvSpPr txBox="1"/>
          <p:nvPr/>
        </p:nvSpPr>
        <p:spPr>
          <a:xfrm>
            <a:off x="223966" y="2746191"/>
            <a:ext cx="3276814" cy="338554"/>
          </a:xfrm>
          <a:prstGeom prst="rect">
            <a:avLst/>
          </a:prstGeom>
          <a:noFill/>
        </p:spPr>
        <p:txBody>
          <a:bodyPr wrap="square" rtlCol="0">
            <a:spAutoFit/>
          </a:bodyPr>
          <a:lstStyle/>
          <a:p>
            <a:pPr algn="just"/>
            <a:r>
              <a:rPr lang="es-ES" sz="1100" b="1" dirty="0">
                <a:solidFill>
                  <a:srgbClr val="142542"/>
                </a:solidFill>
                <a:latin typeface="Century Gothic" panose="020B0502020202020204" pitchFamily="34" charset="0"/>
              </a:rPr>
              <a:t>Follow up EQUITY (EIC STEP)</a:t>
            </a:r>
            <a:r>
              <a:rPr lang="es-ES" sz="1000" b="1" dirty="0">
                <a:solidFill>
                  <a:srgbClr val="142542"/>
                </a:solidFill>
                <a:latin typeface="Century Gothic" panose="020B0502020202020204" pitchFamily="34" charset="0"/>
              </a:rPr>
              <a:t>: up </a:t>
            </a:r>
            <a:r>
              <a:rPr lang="es-ES" sz="1000" b="1" dirty="0" err="1">
                <a:solidFill>
                  <a:srgbClr val="142542"/>
                </a:solidFill>
                <a:latin typeface="Century Gothic" panose="020B0502020202020204" pitchFamily="34" charset="0"/>
              </a:rPr>
              <a:t>to</a:t>
            </a:r>
            <a:r>
              <a:rPr lang="es-ES" sz="1000" b="1" dirty="0">
                <a:solidFill>
                  <a:srgbClr val="142542"/>
                </a:solidFill>
                <a:latin typeface="Century Gothic" panose="020B0502020202020204" pitchFamily="34" charset="0"/>
              </a:rPr>
              <a:t> </a:t>
            </a:r>
            <a:r>
              <a:rPr lang="es-ES" sz="1600" b="1" dirty="0">
                <a:solidFill>
                  <a:srgbClr val="142542"/>
                </a:solidFill>
                <a:latin typeface="Century Gothic" panose="020B0502020202020204" pitchFamily="34" charset="0"/>
              </a:rPr>
              <a:t>€30M</a:t>
            </a:r>
            <a:endParaRPr lang="es-ES" sz="1000" dirty="0">
              <a:solidFill>
                <a:srgbClr val="142542"/>
              </a:solidFill>
              <a:latin typeface="Century Gothic" panose="020B0502020202020204" pitchFamily="34" charset="0"/>
            </a:endParaRPr>
          </a:p>
        </p:txBody>
      </p:sp>
      <p:sp>
        <p:nvSpPr>
          <p:cNvPr id="21" name="Rectángulo: esquinas redondeadas 20">
            <a:extLst>
              <a:ext uri="{FF2B5EF4-FFF2-40B4-BE49-F238E27FC236}">
                <a16:creationId xmlns:a16="http://schemas.microsoft.com/office/drawing/2014/main" id="{D5A5F92E-61F4-056B-8826-5151451D6A3C}"/>
              </a:ext>
            </a:extLst>
          </p:cNvPr>
          <p:cNvSpPr/>
          <p:nvPr/>
        </p:nvSpPr>
        <p:spPr>
          <a:xfrm>
            <a:off x="3442190" y="1830384"/>
            <a:ext cx="3236802" cy="12627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AA78A2C6-2A05-DE87-15F5-9AEA645D53A6}"/>
              </a:ext>
            </a:extLst>
          </p:cNvPr>
          <p:cNvSpPr txBox="1"/>
          <p:nvPr/>
        </p:nvSpPr>
        <p:spPr>
          <a:xfrm>
            <a:off x="3391261" y="1124767"/>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KEY BENEFITS</a:t>
            </a:r>
          </a:p>
        </p:txBody>
      </p:sp>
      <p:sp>
        <p:nvSpPr>
          <p:cNvPr id="24" name="CuadroTexto 23">
            <a:extLst>
              <a:ext uri="{FF2B5EF4-FFF2-40B4-BE49-F238E27FC236}">
                <a16:creationId xmlns:a16="http://schemas.microsoft.com/office/drawing/2014/main" id="{479B692B-C6C0-9B34-0FE9-B2DE40907B5F}"/>
              </a:ext>
            </a:extLst>
          </p:cNvPr>
          <p:cNvSpPr txBox="1"/>
          <p:nvPr/>
        </p:nvSpPr>
        <p:spPr>
          <a:xfrm>
            <a:off x="3442190" y="1799660"/>
            <a:ext cx="3293120" cy="1277273"/>
          </a:xfrm>
          <a:prstGeom prst="rect">
            <a:avLst/>
          </a:prstGeom>
          <a:noFill/>
        </p:spPr>
        <p:txBody>
          <a:bodyPr wrap="square" rtlCol="0">
            <a:spAutoFit/>
          </a:bodyPr>
          <a:lstStyle/>
          <a:p>
            <a:pPr algn="just"/>
            <a:r>
              <a:rPr lang="es-ES" sz="1400" b="1" dirty="0">
                <a:solidFill>
                  <a:srgbClr val="142542"/>
                </a:solidFill>
                <a:latin typeface="Century Gothic" panose="020B0502020202020204" pitchFamily="34" charset="0"/>
              </a:rPr>
              <a:t>Business </a:t>
            </a:r>
            <a:r>
              <a:rPr lang="es-ES" sz="1400" b="1" dirty="0" err="1">
                <a:solidFill>
                  <a:srgbClr val="142542"/>
                </a:solidFill>
                <a:latin typeface="Century Gothic" panose="020B0502020202020204" pitchFamily="34" charset="0"/>
              </a:rPr>
              <a:t>Acceleration</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Services</a:t>
            </a:r>
            <a:endParaRPr lang="es-ES" sz="1400" b="1" dirty="0">
              <a:solidFill>
                <a:srgbClr val="142542"/>
              </a:solidFill>
              <a:latin typeface="Century Gothic" panose="020B0502020202020204" pitchFamily="34" charset="0"/>
            </a:endParaRPr>
          </a:p>
          <a:p>
            <a:pPr marL="171450" indent="-171450" algn="just">
              <a:buFont typeface="Arial" panose="020B0604020202020204" pitchFamily="34" charset="0"/>
              <a:buChar char="•"/>
            </a:pPr>
            <a:r>
              <a:rPr lang="en-US" sz="1050" dirty="0">
                <a:solidFill>
                  <a:srgbClr val="142542"/>
                </a:solidFill>
                <a:latin typeface="Century Gothic" panose="020B0502020202020204" pitchFamily="34" charset="0"/>
              </a:rPr>
              <a:t>Strategic advice to refine the business model and commercialization strategy.</a:t>
            </a:r>
          </a:p>
          <a:p>
            <a:pPr marL="171450" indent="-171450" algn="just">
              <a:buFont typeface="Arial" panose="020B0604020202020204" pitchFamily="34" charset="0"/>
              <a:buChar char="•"/>
            </a:pPr>
            <a:endParaRPr lang="en-US" sz="1050" dirty="0">
              <a:solidFill>
                <a:srgbClr val="142542"/>
              </a:solidFill>
              <a:latin typeface="Century Gothic" panose="020B0502020202020204" pitchFamily="34" charset="0"/>
            </a:endParaRPr>
          </a:p>
          <a:p>
            <a:pPr marL="171450" indent="-171450" algn="just">
              <a:buFont typeface="Arial" panose="020B0604020202020204" pitchFamily="34" charset="0"/>
              <a:buChar char="•"/>
            </a:pPr>
            <a:r>
              <a:rPr lang="en-US" sz="1050" dirty="0">
                <a:solidFill>
                  <a:srgbClr val="142542"/>
                </a:solidFill>
                <a:latin typeface="Century Gothic" panose="020B0502020202020204" pitchFamily="34" charset="0"/>
              </a:rPr>
              <a:t>Connection with a European network of corporates and investors to facilitate scaling and internationalization.</a:t>
            </a:r>
            <a:endParaRPr lang="es-ES" sz="900" dirty="0">
              <a:solidFill>
                <a:srgbClr val="142542"/>
              </a:solidFill>
              <a:latin typeface="Century Gothic" panose="020B0502020202020204" pitchFamily="34" charset="0"/>
            </a:endParaRPr>
          </a:p>
        </p:txBody>
      </p:sp>
      <p:sp>
        <p:nvSpPr>
          <p:cNvPr id="27" name="CuadroTexto 26">
            <a:extLst>
              <a:ext uri="{FF2B5EF4-FFF2-40B4-BE49-F238E27FC236}">
                <a16:creationId xmlns:a16="http://schemas.microsoft.com/office/drawing/2014/main" id="{20642869-0AFA-92DA-DE21-1434637951B9}"/>
              </a:ext>
            </a:extLst>
          </p:cNvPr>
          <p:cNvSpPr txBox="1"/>
          <p:nvPr/>
        </p:nvSpPr>
        <p:spPr>
          <a:xfrm>
            <a:off x="156731" y="3205418"/>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ELIGIBILITY REQUIEREMENTS</a:t>
            </a:r>
          </a:p>
        </p:txBody>
      </p:sp>
      <p:sp>
        <p:nvSpPr>
          <p:cNvPr id="29" name="CuadroTexto 28">
            <a:extLst>
              <a:ext uri="{FF2B5EF4-FFF2-40B4-BE49-F238E27FC236}">
                <a16:creationId xmlns:a16="http://schemas.microsoft.com/office/drawing/2014/main" id="{2B0EEC60-015C-78BD-E603-B2186F305790}"/>
              </a:ext>
            </a:extLst>
          </p:cNvPr>
          <p:cNvSpPr txBox="1"/>
          <p:nvPr/>
        </p:nvSpPr>
        <p:spPr>
          <a:xfrm>
            <a:off x="181754" y="3471613"/>
            <a:ext cx="6524534" cy="307777"/>
          </a:xfrm>
          <a:prstGeom prst="rect">
            <a:avLst/>
          </a:prstGeom>
          <a:noFill/>
        </p:spPr>
        <p:txBody>
          <a:bodyPr wrap="square" rtlCol="0">
            <a:spAutoFit/>
          </a:bodyPr>
          <a:lstStyle/>
          <a:p>
            <a:pPr algn="just"/>
            <a:r>
              <a:rPr lang="es-ES" sz="1400" b="1" dirty="0">
                <a:solidFill>
                  <a:srgbClr val="142542"/>
                </a:solidFill>
                <a:latin typeface="Century Gothic" panose="020B0502020202020204" pitchFamily="34" charset="0"/>
              </a:rPr>
              <a:t>THE 3 PILLARS OF THE EIC ACCELERATOR</a:t>
            </a:r>
          </a:p>
        </p:txBody>
      </p:sp>
      <p:pic>
        <p:nvPicPr>
          <p:cNvPr id="30" name="Gráfico 29" descr="Bombilla y equipo contorno">
            <a:extLst>
              <a:ext uri="{FF2B5EF4-FFF2-40B4-BE49-F238E27FC236}">
                <a16:creationId xmlns:a16="http://schemas.microsoft.com/office/drawing/2014/main" id="{83941302-9F00-E74A-E69F-07D0C872C7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53284" y="3869560"/>
            <a:ext cx="704850" cy="704850"/>
          </a:xfrm>
          <a:prstGeom prst="rect">
            <a:avLst/>
          </a:prstGeom>
        </p:spPr>
      </p:pic>
      <p:pic>
        <p:nvPicPr>
          <p:cNvPr id="32" name="Gráfico 31" descr="Globo terrestre contorno">
            <a:extLst>
              <a:ext uri="{FF2B5EF4-FFF2-40B4-BE49-F238E27FC236}">
                <a16:creationId xmlns:a16="http://schemas.microsoft.com/office/drawing/2014/main" id="{2B72497A-F7E1-1D4A-D1E5-8D3B15EBCE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2337122" y="3892414"/>
            <a:ext cx="618393" cy="618393"/>
          </a:xfrm>
          <a:prstGeom prst="rect">
            <a:avLst/>
          </a:prstGeom>
        </p:spPr>
      </p:pic>
      <p:pic>
        <p:nvPicPr>
          <p:cNvPr id="34" name="Gráfico 33" descr="Hoja contorno">
            <a:extLst>
              <a:ext uri="{FF2B5EF4-FFF2-40B4-BE49-F238E27FC236}">
                <a16:creationId xmlns:a16="http://schemas.microsoft.com/office/drawing/2014/main" id="{94BF15F2-5857-1D23-EF10-BD5905E8DD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732842" y="3901939"/>
            <a:ext cx="608868" cy="608868"/>
          </a:xfrm>
          <a:prstGeom prst="rect">
            <a:avLst/>
          </a:prstGeom>
        </p:spPr>
      </p:pic>
      <p:sp>
        <p:nvSpPr>
          <p:cNvPr id="36" name="CuadroTexto 35">
            <a:extLst>
              <a:ext uri="{FF2B5EF4-FFF2-40B4-BE49-F238E27FC236}">
                <a16:creationId xmlns:a16="http://schemas.microsoft.com/office/drawing/2014/main" id="{A4258C2F-D416-368C-F6B9-D71405B9C304}"/>
              </a:ext>
            </a:extLst>
          </p:cNvPr>
          <p:cNvSpPr txBox="1"/>
          <p:nvPr/>
        </p:nvSpPr>
        <p:spPr>
          <a:xfrm>
            <a:off x="737701" y="3876807"/>
            <a:ext cx="1692170" cy="523220"/>
          </a:xfrm>
          <a:prstGeom prst="rect">
            <a:avLst/>
          </a:prstGeom>
          <a:noFill/>
        </p:spPr>
        <p:txBody>
          <a:bodyPr wrap="square" rtlCol="0">
            <a:spAutoFit/>
          </a:bodyPr>
          <a:lstStyle/>
          <a:p>
            <a:r>
              <a:rPr lang="es-ES" sz="1400" b="1" dirty="0">
                <a:solidFill>
                  <a:srgbClr val="142542"/>
                </a:solidFill>
                <a:latin typeface="Century Gothic" panose="020B0502020202020204" pitchFamily="34" charset="0"/>
              </a:rPr>
              <a:t>High </a:t>
            </a:r>
            <a:r>
              <a:rPr lang="es-ES" sz="1400" b="1" dirty="0" err="1">
                <a:solidFill>
                  <a:srgbClr val="142542"/>
                </a:solidFill>
                <a:latin typeface="Century Gothic" panose="020B0502020202020204" pitchFamily="34" charset="0"/>
              </a:rPr>
              <a:t>Degree</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of</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Novelty</a:t>
            </a:r>
            <a:endParaRPr lang="es-ES" sz="900" dirty="0">
              <a:solidFill>
                <a:srgbClr val="142542"/>
              </a:solidFill>
              <a:latin typeface="Century Gothic" panose="020B0502020202020204" pitchFamily="34" charset="0"/>
            </a:endParaRPr>
          </a:p>
        </p:txBody>
      </p:sp>
      <p:sp>
        <p:nvSpPr>
          <p:cNvPr id="38" name="CuadroTexto 37">
            <a:extLst>
              <a:ext uri="{FF2B5EF4-FFF2-40B4-BE49-F238E27FC236}">
                <a16:creationId xmlns:a16="http://schemas.microsoft.com/office/drawing/2014/main" id="{50245820-AEC9-9469-4930-C909D1BB7551}"/>
              </a:ext>
            </a:extLst>
          </p:cNvPr>
          <p:cNvSpPr txBox="1"/>
          <p:nvPr/>
        </p:nvSpPr>
        <p:spPr>
          <a:xfrm>
            <a:off x="2923616" y="3879079"/>
            <a:ext cx="1692170" cy="523220"/>
          </a:xfrm>
          <a:prstGeom prst="rect">
            <a:avLst/>
          </a:prstGeom>
          <a:noFill/>
        </p:spPr>
        <p:txBody>
          <a:bodyPr wrap="square" rtlCol="0">
            <a:spAutoFit/>
          </a:bodyPr>
          <a:lstStyle/>
          <a:p>
            <a:r>
              <a:rPr lang="es-ES" sz="1400" b="1" dirty="0" err="1">
                <a:solidFill>
                  <a:srgbClr val="142542"/>
                </a:solidFill>
                <a:latin typeface="Century Gothic" panose="020B0502020202020204" pitchFamily="34" charset="0"/>
              </a:rPr>
              <a:t>Market</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Disruption</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Capacity</a:t>
            </a:r>
            <a:endParaRPr lang="es-ES" sz="900" dirty="0">
              <a:solidFill>
                <a:srgbClr val="142542"/>
              </a:solidFill>
              <a:latin typeface="Century Gothic" panose="020B0502020202020204" pitchFamily="34" charset="0"/>
            </a:endParaRPr>
          </a:p>
        </p:txBody>
      </p:sp>
      <p:sp>
        <p:nvSpPr>
          <p:cNvPr id="39" name="CuadroTexto 38">
            <a:extLst>
              <a:ext uri="{FF2B5EF4-FFF2-40B4-BE49-F238E27FC236}">
                <a16:creationId xmlns:a16="http://schemas.microsoft.com/office/drawing/2014/main" id="{8EE0AFF7-71C0-506F-7CA0-845A08619783}"/>
              </a:ext>
            </a:extLst>
          </p:cNvPr>
          <p:cNvSpPr txBox="1"/>
          <p:nvPr/>
        </p:nvSpPr>
        <p:spPr>
          <a:xfrm>
            <a:off x="5273312" y="3881351"/>
            <a:ext cx="1692170" cy="738664"/>
          </a:xfrm>
          <a:prstGeom prst="rect">
            <a:avLst/>
          </a:prstGeom>
          <a:noFill/>
        </p:spPr>
        <p:txBody>
          <a:bodyPr wrap="square" rtlCol="0">
            <a:spAutoFit/>
          </a:bodyPr>
          <a:lstStyle/>
          <a:p>
            <a:r>
              <a:rPr lang="es-ES" sz="1400" b="1" dirty="0">
                <a:solidFill>
                  <a:srgbClr val="142542"/>
                </a:solidFill>
                <a:latin typeface="Century Gothic" panose="020B0502020202020204" pitchFamily="34" charset="0"/>
              </a:rPr>
              <a:t>Social and </a:t>
            </a:r>
            <a:r>
              <a:rPr lang="es-ES" sz="1400" b="1" dirty="0" err="1">
                <a:solidFill>
                  <a:srgbClr val="142542"/>
                </a:solidFill>
                <a:latin typeface="Century Gothic" panose="020B0502020202020204" pitchFamily="34" charset="0"/>
              </a:rPr>
              <a:t>Environmental</a:t>
            </a:r>
            <a:r>
              <a:rPr lang="es-ES" sz="1400" b="1" dirty="0">
                <a:solidFill>
                  <a:srgbClr val="142542"/>
                </a:solidFill>
                <a:latin typeface="Century Gothic" panose="020B0502020202020204" pitchFamily="34" charset="0"/>
              </a:rPr>
              <a:t> </a:t>
            </a:r>
            <a:r>
              <a:rPr lang="es-ES" sz="1400" b="1" dirty="0" err="1">
                <a:solidFill>
                  <a:srgbClr val="142542"/>
                </a:solidFill>
                <a:latin typeface="Century Gothic" panose="020B0502020202020204" pitchFamily="34" charset="0"/>
              </a:rPr>
              <a:t>Impact</a:t>
            </a:r>
            <a:endParaRPr lang="es-ES" sz="900" dirty="0">
              <a:solidFill>
                <a:srgbClr val="142542"/>
              </a:solidFill>
              <a:latin typeface="Century Gothic" panose="020B0502020202020204" pitchFamily="34" charset="0"/>
            </a:endParaRPr>
          </a:p>
        </p:txBody>
      </p:sp>
      <p:sp>
        <p:nvSpPr>
          <p:cNvPr id="40" name="Rectángulo: esquinas redondeadas 39">
            <a:extLst>
              <a:ext uri="{FF2B5EF4-FFF2-40B4-BE49-F238E27FC236}">
                <a16:creationId xmlns:a16="http://schemas.microsoft.com/office/drawing/2014/main" id="{33E04B27-701A-2103-842D-5D5D4CEA4F2C}"/>
              </a:ext>
            </a:extLst>
          </p:cNvPr>
          <p:cNvSpPr/>
          <p:nvPr/>
        </p:nvSpPr>
        <p:spPr>
          <a:xfrm>
            <a:off x="154437" y="6471689"/>
            <a:ext cx="6540479" cy="2461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CuadroTexto 40">
            <a:extLst>
              <a:ext uri="{FF2B5EF4-FFF2-40B4-BE49-F238E27FC236}">
                <a16:creationId xmlns:a16="http://schemas.microsoft.com/office/drawing/2014/main" id="{39F58DE4-E37E-94A1-CC04-473C4632878B}"/>
              </a:ext>
            </a:extLst>
          </p:cNvPr>
          <p:cNvSpPr txBox="1"/>
          <p:nvPr/>
        </p:nvSpPr>
        <p:spPr>
          <a:xfrm>
            <a:off x="159003" y="6198476"/>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3-STEPS APPLICATION PROCCESS</a:t>
            </a:r>
          </a:p>
        </p:txBody>
      </p:sp>
      <p:sp>
        <p:nvSpPr>
          <p:cNvPr id="42" name="CuadroTexto 41">
            <a:extLst>
              <a:ext uri="{FF2B5EF4-FFF2-40B4-BE49-F238E27FC236}">
                <a16:creationId xmlns:a16="http://schemas.microsoft.com/office/drawing/2014/main" id="{E16CB572-FB0F-1AAC-8337-12AD3B10D99C}"/>
              </a:ext>
            </a:extLst>
          </p:cNvPr>
          <p:cNvSpPr txBox="1"/>
          <p:nvPr/>
        </p:nvSpPr>
        <p:spPr>
          <a:xfrm>
            <a:off x="221694" y="9059896"/>
            <a:ext cx="6457298" cy="738664"/>
          </a:xfrm>
          <a:prstGeom prst="rect">
            <a:avLst/>
          </a:prstGeom>
          <a:noFill/>
        </p:spPr>
        <p:txBody>
          <a:bodyPr wrap="square" rtlCol="0">
            <a:spAutoFit/>
          </a:bodyPr>
          <a:lstStyle/>
          <a:p>
            <a:pPr algn="ctr"/>
            <a:r>
              <a:rPr lang="es-ES" sz="1400" b="1" dirty="0">
                <a:solidFill>
                  <a:schemeClr val="bg1"/>
                </a:solidFill>
                <a:latin typeface="Century Gothic" panose="020B0502020202020204" pitchFamily="34" charset="0"/>
              </a:rPr>
              <a:t>Note</a:t>
            </a:r>
            <a:r>
              <a:rPr lang="es-ES" sz="1400" dirty="0">
                <a:solidFill>
                  <a:schemeClr val="bg1"/>
                </a:solidFill>
                <a:latin typeface="Century Gothic" panose="020B0502020202020204" pitchFamily="34" charset="0"/>
              </a:rPr>
              <a:t>: </a:t>
            </a:r>
            <a:r>
              <a:rPr lang="en-US" sz="1400" dirty="0">
                <a:solidFill>
                  <a:schemeClr val="bg1"/>
                </a:solidFill>
                <a:latin typeface="Century Gothic" panose="020B0502020202020204" pitchFamily="34" charset="0"/>
              </a:rPr>
              <a:t>Please be advised that the next deadline is </a:t>
            </a:r>
          </a:p>
          <a:p>
            <a:pPr algn="ctr"/>
            <a:r>
              <a:rPr lang="en-US" sz="1400" dirty="0">
                <a:solidFill>
                  <a:schemeClr val="bg1"/>
                </a:solidFill>
                <a:latin typeface="Century Gothic" panose="020B0502020202020204" pitchFamily="34" charset="0"/>
              </a:rPr>
              <a:t>March 2026.</a:t>
            </a:r>
          </a:p>
          <a:p>
            <a:pPr algn="ctr"/>
            <a:r>
              <a:rPr lang="en-US" sz="1400" dirty="0">
                <a:solidFill>
                  <a:schemeClr val="bg1"/>
                </a:solidFill>
                <a:latin typeface="Century Gothic" panose="020B0502020202020204" pitchFamily="34" charset="0"/>
              </a:rPr>
              <a:t>The EIC process must commence in </a:t>
            </a:r>
            <a:r>
              <a:rPr lang="en-US" sz="1400" b="1" dirty="0">
                <a:solidFill>
                  <a:schemeClr val="bg1"/>
                </a:solidFill>
                <a:latin typeface="Century Gothic" panose="020B0502020202020204" pitchFamily="34" charset="0"/>
              </a:rPr>
              <a:t>October 2025</a:t>
            </a:r>
            <a:r>
              <a:rPr lang="en-US" sz="1400" dirty="0">
                <a:solidFill>
                  <a:schemeClr val="bg1"/>
                </a:solidFill>
                <a:latin typeface="Century Gothic" panose="020B0502020202020204" pitchFamily="34" charset="0"/>
              </a:rPr>
              <a:t>. </a:t>
            </a:r>
            <a:endParaRPr lang="es-ES" sz="1400" dirty="0">
              <a:solidFill>
                <a:schemeClr val="bg1"/>
              </a:solidFill>
              <a:latin typeface="Century Gothic" panose="020B0502020202020204" pitchFamily="34" charset="0"/>
            </a:endParaRPr>
          </a:p>
        </p:txBody>
      </p:sp>
      <p:graphicFrame>
        <p:nvGraphicFramePr>
          <p:cNvPr id="49" name="Diagrama 48">
            <a:extLst>
              <a:ext uri="{FF2B5EF4-FFF2-40B4-BE49-F238E27FC236}">
                <a16:creationId xmlns:a16="http://schemas.microsoft.com/office/drawing/2014/main" id="{5CAAF56F-1F68-3D61-D101-97748CF8DCBF}"/>
              </a:ext>
            </a:extLst>
          </p:cNvPr>
          <p:cNvGraphicFramePr/>
          <p:nvPr>
            <p:extLst>
              <p:ext uri="{D42A27DB-BD31-4B8C-83A1-F6EECF244321}">
                <p14:modId xmlns:p14="http://schemas.microsoft.com/office/powerpoint/2010/main" val="543983354"/>
              </p:ext>
            </p:extLst>
          </p:nvPr>
        </p:nvGraphicFramePr>
        <p:xfrm>
          <a:off x="163084" y="6966120"/>
          <a:ext cx="6524534" cy="30777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2" name="CuadroTexto 51">
            <a:extLst>
              <a:ext uri="{FF2B5EF4-FFF2-40B4-BE49-F238E27FC236}">
                <a16:creationId xmlns:a16="http://schemas.microsoft.com/office/drawing/2014/main" id="{82C24880-9A3F-A7FC-A4AF-CD0B6BA8EA5D}"/>
              </a:ext>
            </a:extLst>
          </p:cNvPr>
          <p:cNvSpPr txBox="1"/>
          <p:nvPr/>
        </p:nvSpPr>
        <p:spPr>
          <a:xfrm>
            <a:off x="1456921" y="6629980"/>
            <a:ext cx="1724025" cy="276999"/>
          </a:xfrm>
          <a:prstGeom prst="rect">
            <a:avLst/>
          </a:prstGeom>
          <a:noFill/>
          <a:ln w="9525">
            <a:solidFill>
              <a:srgbClr val="C00000"/>
            </a:solidFill>
            <a:prstDash val="dash"/>
          </a:ln>
        </p:spPr>
        <p:txBody>
          <a:bodyPr wrap="square" rtlCol="0">
            <a:spAutoFit/>
          </a:bodyPr>
          <a:lstStyle/>
          <a:p>
            <a:pPr algn="ctr"/>
            <a:r>
              <a:rPr lang="es-ES" sz="1200" dirty="0">
                <a:solidFill>
                  <a:srgbClr val="C00000"/>
                </a:solidFill>
                <a:latin typeface="Century Gothic" panose="020B0502020202020204" pitchFamily="34" charset="0"/>
              </a:rPr>
              <a:t>4 - 6 weeks</a:t>
            </a:r>
          </a:p>
        </p:txBody>
      </p:sp>
      <p:sp>
        <p:nvSpPr>
          <p:cNvPr id="53" name="CuadroTexto 52">
            <a:extLst>
              <a:ext uri="{FF2B5EF4-FFF2-40B4-BE49-F238E27FC236}">
                <a16:creationId xmlns:a16="http://schemas.microsoft.com/office/drawing/2014/main" id="{33219A05-B4C9-0A25-6E59-FF6A37A04585}"/>
              </a:ext>
            </a:extLst>
          </p:cNvPr>
          <p:cNvSpPr txBox="1"/>
          <p:nvPr/>
        </p:nvSpPr>
        <p:spPr>
          <a:xfrm>
            <a:off x="3586966" y="6629980"/>
            <a:ext cx="1724025" cy="276999"/>
          </a:xfrm>
          <a:prstGeom prst="rect">
            <a:avLst/>
          </a:prstGeom>
          <a:noFill/>
          <a:ln w="9525">
            <a:solidFill>
              <a:srgbClr val="C00000"/>
            </a:solidFill>
            <a:prstDash val="dash"/>
          </a:ln>
        </p:spPr>
        <p:txBody>
          <a:bodyPr wrap="square" rtlCol="0">
            <a:spAutoFit/>
          </a:bodyPr>
          <a:lstStyle/>
          <a:p>
            <a:pPr algn="ctr"/>
            <a:r>
              <a:rPr lang="es-ES" sz="1200" dirty="0">
                <a:solidFill>
                  <a:srgbClr val="C00000"/>
                </a:solidFill>
                <a:latin typeface="Century Gothic" panose="020B0502020202020204" pitchFamily="34" charset="0"/>
              </a:rPr>
              <a:t>8 - 12 weeks</a:t>
            </a:r>
          </a:p>
        </p:txBody>
      </p:sp>
      <p:sp>
        <p:nvSpPr>
          <p:cNvPr id="58" name="CuadroTexto 57">
            <a:extLst>
              <a:ext uri="{FF2B5EF4-FFF2-40B4-BE49-F238E27FC236}">
                <a16:creationId xmlns:a16="http://schemas.microsoft.com/office/drawing/2014/main" id="{D893D0B3-F710-5DF2-3698-031F24B8F6BD}"/>
              </a:ext>
            </a:extLst>
          </p:cNvPr>
          <p:cNvSpPr txBox="1"/>
          <p:nvPr/>
        </p:nvSpPr>
        <p:spPr>
          <a:xfrm>
            <a:off x="402394" y="7922605"/>
            <a:ext cx="1748287" cy="577081"/>
          </a:xfrm>
          <a:prstGeom prst="rect">
            <a:avLst/>
          </a:prstGeom>
          <a:solidFill>
            <a:srgbClr val="FFFFFF"/>
          </a:solidFill>
          <a:ln w="9525">
            <a:solidFill>
              <a:srgbClr val="3B3883"/>
            </a:solidFill>
            <a:prstDash val="dash"/>
          </a:ln>
        </p:spPr>
        <p:txBody>
          <a:bodyPr wrap="square" rtlCol="0">
            <a:spAutoFit/>
          </a:bodyPr>
          <a:lstStyle/>
          <a:p>
            <a:pPr marL="171450" indent="-171450">
              <a:buFont typeface="Arial" panose="020B0604020202020204" pitchFamily="34" charset="0"/>
              <a:buChar char="•"/>
            </a:pPr>
            <a:r>
              <a:rPr lang="es-ES" sz="1050" b="1" dirty="0">
                <a:latin typeface="Century Gothic" panose="020B0502020202020204" pitchFamily="34" charset="0"/>
              </a:rPr>
              <a:t>Short description</a:t>
            </a:r>
          </a:p>
          <a:p>
            <a:pPr marL="171450" indent="-171450">
              <a:buFont typeface="Arial" panose="020B0604020202020204" pitchFamily="34" charset="0"/>
              <a:buChar char="•"/>
            </a:pPr>
            <a:r>
              <a:rPr lang="es-ES" sz="1050" b="1" dirty="0">
                <a:latin typeface="Century Gothic" panose="020B0502020202020204" pitchFamily="34" charset="0"/>
              </a:rPr>
              <a:t>Video</a:t>
            </a:r>
          </a:p>
          <a:p>
            <a:pPr marL="171450" indent="-171450">
              <a:buFont typeface="Arial" panose="020B0604020202020204" pitchFamily="34" charset="0"/>
              <a:buChar char="•"/>
            </a:pPr>
            <a:r>
              <a:rPr lang="es-ES" sz="1050" b="1" dirty="0">
                <a:latin typeface="Century Gothic" panose="020B0502020202020204" pitchFamily="34" charset="0"/>
              </a:rPr>
              <a:t>Pitch-deck</a:t>
            </a:r>
          </a:p>
        </p:txBody>
      </p:sp>
      <p:sp>
        <p:nvSpPr>
          <p:cNvPr id="59" name="CuadroTexto 58">
            <a:extLst>
              <a:ext uri="{FF2B5EF4-FFF2-40B4-BE49-F238E27FC236}">
                <a16:creationId xmlns:a16="http://schemas.microsoft.com/office/drawing/2014/main" id="{D8ABD579-40C5-D906-B365-75AD71B75808}"/>
              </a:ext>
            </a:extLst>
          </p:cNvPr>
          <p:cNvSpPr txBox="1"/>
          <p:nvPr/>
        </p:nvSpPr>
        <p:spPr>
          <a:xfrm>
            <a:off x="2398638" y="7933335"/>
            <a:ext cx="2059901" cy="738664"/>
          </a:xfrm>
          <a:prstGeom prst="rect">
            <a:avLst/>
          </a:prstGeom>
          <a:solidFill>
            <a:srgbClr val="FFFFFF"/>
          </a:solidFill>
          <a:ln w="9525">
            <a:solidFill>
              <a:srgbClr val="3B3883"/>
            </a:solidFill>
            <a:prstDash val="dash"/>
          </a:ln>
        </p:spPr>
        <p:txBody>
          <a:bodyPr wrap="square" rtlCol="0">
            <a:spAutoFit/>
          </a:bodyPr>
          <a:lstStyle/>
          <a:p>
            <a:pPr marL="171450" indent="-171450">
              <a:buFont typeface="Arial" panose="020B0604020202020204" pitchFamily="34" charset="0"/>
              <a:buChar char="•"/>
            </a:pPr>
            <a:r>
              <a:rPr lang="es-ES" sz="1050" b="1" dirty="0">
                <a:latin typeface="Century Gothic" panose="020B0502020202020204" pitchFamily="34" charset="0"/>
              </a:rPr>
              <a:t>Business plan</a:t>
            </a:r>
          </a:p>
          <a:p>
            <a:pPr marL="171450" indent="-171450">
              <a:buFont typeface="Arial" panose="020B0604020202020204" pitchFamily="34" charset="0"/>
              <a:buChar char="•"/>
            </a:pPr>
            <a:r>
              <a:rPr lang="es-ES" sz="1050" b="1" dirty="0">
                <a:latin typeface="Century Gothic" panose="020B0502020202020204" pitchFamily="34" charset="0"/>
              </a:rPr>
              <a:t>Full Pitch + Video</a:t>
            </a:r>
          </a:p>
          <a:p>
            <a:pPr marL="171450" indent="-171450">
              <a:buFont typeface="Arial" panose="020B0604020202020204" pitchFamily="34" charset="0"/>
              <a:buChar char="•"/>
            </a:pPr>
            <a:r>
              <a:rPr lang="es-ES" sz="1050" b="1" dirty="0">
                <a:latin typeface="Century Gothic" panose="020B0502020202020204" pitchFamily="34" charset="0"/>
              </a:rPr>
              <a:t>Letters of Intent</a:t>
            </a:r>
          </a:p>
          <a:p>
            <a:pPr marL="171450" indent="-171450">
              <a:buFont typeface="Arial" panose="020B0604020202020204" pitchFamily="34" charset="0"/>
              <a:buChar char="•"/>
            </a:pPr>
            <a:r>
              <a:rPr lang="es-ES" sz="1050" b="1" dirty="0">
                <a:latin typeface="Century Gothic" panose="020B0502020202020204" pitchFamily="34" charset="0"/>
              </a:rPr>
              <a:t>Extra documentation</a:t>
            </a:r>
          </a:p>
        </p:txBody>
      </p:sp>
      <p:sp>
        <p:nvSpPr>
          <p:cNvPr id="61" name="CuadroTexto 60">
            <a:extLst>
              <a:ext uri="{FF2B5EF4-FFF2-40B4-BE49-F238E27FC236}">
                <a16:creationId xmlns:a16="http://schemas.microsoft.com/office/drawing/2014/main" id="{048D5287-790B-21F7-A8C0-CEAF8DF9E457}"/>
              </a:ext>
            </a:extLst>
          </p:cNvPr>
          <p:cNvSpPr txBox="1"/>
          <p:nvPr/>
        </p:nvSpPr>
        <p:spPr>
          <a:xfrm>
            <a:off x="4549978" y="7943754"/>
            <a:ext cx="2004061" cy="430887"/>
          </a:xfrm>
          <a:prstGeom prst="rect">
            <a:avLst/>
          </a:prstGeom>
          <a:solidFill>
            <a:srgbClr val="FFFFFF"/>
          </a:solidFill>
          <a:ln w="9525">
            <a:solidFill>
              <a:srgbClr val="3B3883"/>
            </a:solidFill>
            <a:prstDash val="dash"/>
          </a:ln>
        </p:spPr>
        <p:txBody>
          <a:bodyPr wrap="square" rtlCol="0">
            <a:spAutoFit/>
          </a:bodyPr>
          <a:lstStyle/>
          <a:p>
            <a:pPr marL="171450" indent="-171450">
              <a:buFont typeface="Arial" panose="020B0604020202020204" pitchFamily="34" charset="0"/>
              <a:buChar char="•"/>
            </a:pPr>
            <a:r>
              <a:rPr lang="es-ES" sz="1050" b="1" dirty="0">
                <a:latin typeface="Century Gothic" panose="020B0502020202020204" pitchFamily="34" charset="0"/>
              </a:rPr>
              <a:t>Due Diligence</a:t>
            </a:r>
          </a:p>
          <a:p>
            <a:pPr marL="171450" indent="-171450">
              <a:buFont typeface="Arial" panose="020B0604020202020204" pitchFamily="34" charset="0"/>
              <a:buChar char="•"/>
            </a:pPr>
            <a:r>
              <a:rPr lang="es-ES" sz="1050" b="1" dirty="0">
                <a:latin typeface="Century Gothic" panose="020B0502020202020204" pitchFamily="34" charset="0"/>
              </a:rPr>
              <a:t>Agreement</a:t>
            </a:r>
          </a:p>
        </p:txBody>
      </p:sp>
      <p:sp>
        <p:nvSpPr>
          <p:cNvPr id="62" name="CuadroTexto 61">
            <a:extLst>
              <a:ext uri="{FF2B5EF4-FFF2-40B4-BE49-F238E27FC236}">
                <a16:creationId xmlns:a16="http://schemas.microsoft.com/office/drawing/2014/main" id="{1FF5E5B5-8A0B-7B58-B42B-96FB4936EE15}"/>
              </a:ext>
            </a:extLst>
          </p:cNvPr>
          <p:cNvSpPr txBox="1"/>
          <p:nvPr/>
        </p:nvSpPr>
        <p:spPr>
          <a:xfrm>
            <a:off x="1474688" y="7264878"/>
            <a:ext cx="1724025" cy="246221"/>
          </a:xfrm>
          <a:prstGeom prst="rect">
            <a:avLst/>
          </a:prstGeom>
          <a:noFill/>
          <a:ln w="9525">
            <a:noFill/>
            <a:prstDash val="dash"/>
          </a:ln>
        </p:spPr>
        <p:txBody>
          <a:bodyPr wrap="square" rtlCol="0">
            <a:spAutoFit/>
          </a:bodyPr>
          <a:lstStyle/>
          <a:p>
            <a:pPr algn="ctr"/>
            <a:r>
              <a:rPr lang="es-ES" sz="1000" dirty="0">
                <a:latin typeface="Century Gothic" panose="020B0502020202020204" pitchFamily="34" charset="0"/>
              </a:rPr>
              <a:t>&lt;- Fail</a:t>
            </a:r>
          </a:p>
        </p:txBody>
      </p:sp>
      <p:sp>
        <p:nvSpPr>
          <p:cNvPr id="63" name="CuadroTexto 62">
            <a:extLst>
              <a:ext uri="{FF2B5EF4-FFF2-40B4-BE49-F238E27FC236}">
                <a16:creationId xmlns:a16="http://schemas.microsoft.com/office/drawing/2014/main" id="{057EB567-6D60-1243-D217-0D39F30A1C0A}"/>
              </a:ext>
            </a:extLst>
          </p:cNvPr>
          <p:cNvSpPr txBox="1"/>
          <p:nvPr/>
        </p:nvSpPr>
        <p:spPr>
          <a:xfrm>
            <a:off x="3427313" y="7264878"/>
            <a:ext cx="1724025" cy="246221"/>
          </a:xfrm>
          <a:prstGeom prst="rect">
            <a:avLst/>
          </a:prstGeom>
          <a:noFill/>
          <a:ln w="9525">
            <a:noFill/>
            <a:prstDash val="dash"/>
          </a:ln>
        </p:spPr>
        <p:txBody>
          <a:bodyPr wrap="square" rtlCol="0">
            <a:spAutoFit/>
          </a:bodyPr>
          <a:lstStyle/>
          <a:p>
            <a:pPr algn="ctr"/>
            <a:r>
              <a:rPr lang="es-ES" sz="1000" dirty="0">
                <a:latin typeface="Century Gothic" panose="020B0502020202020204" pitchFamily="34" charset="0"/>
              </a:rPr>
              <a:t>&lt;- Fail</a:t>
            </a:r>
          </a:p>
        </p:txBody>
      </p:sp>
      <p:sp>
        <p:nvSpPr>
          <p:cNvPr id="64" name="CuadroTexto 63">
            <a:extLst>
              <a:ext uri="{FF2B5EF4-FFF2-40B4-BE49-F238E27FC236}">
                <a16:creationId xmlns:a16="http://schemas.microsoft.com/office/drawing/2014/main" id="{2761C164-FD08-37B8-BA7F-28F4FA4571A8}"/>
              </a:ext>
            </a:extLst>
          </p:cNvPr>
          <p:cNvSpPr txBox="1"/>
          <p:nvPr/>
        </p:nvSpPr>
        <p:spPr>
          <a:xfrm>
            <a:off x="5598304" y="7264878"/>
            <a:ext cx="1724025" cy="246221"/>
          </a:xfrm>
          <a:prstGeom prst="rect">
            <a:avLst/>
          </a:prstGeom>
          <a:noFill/>
          <a:ln w="9525">
            <a:noFill/>
            <a:prstDash val="dash"/>
          </a:ln>
        </p:spPr>
        <p:txBody>
          <a:bodyPr wrap="square" rtlCol="0">
            <a:spAutoFit/>
          </a:bodyPr>
          <a:lstStyle/>
          <a:p>
            <a:pPr algn="ctr"/>
            <a:r>
              <a:rPr lang="es-ES" sz="1000" dirty="0">
                <a:latin typeface="Century Gothic" panose="020B0502020202020204" pitchFamily="34" charset="0"/>
              </a:rPr>
              <a:t>&lt;- Fail</a:t>
            </a:r>
          </a:p>
        </p:txBody>
      </p:sp>
      <p:sp>
        <p:nvSpPr>
          <p:cNvPr id="65" name="CuadroTexto 64">
            <a:extLst>
              <a:ext uri="{FF2B5EF4-FFF2-40B4-BE49-F238E27FC236}">
                <a16:creationId xmlns:a16="http://schemas.microsoft.com/office/drawing/2014/main" id="{414241DF-3478-2B4B-DBA0-EAB77AF9AE63}"/>
              </a:ext>
            </a:extLst>
          </p:cNvPr>
          <p:cNvSpPr txBox="1"/>
          <p:nvPr/>
        </p:nvSpPr>
        <p:spPr>
          <a:xfrm>
            <a:off x="397080" y="7496441"/>
            <a:ext cx="2004060" cy="276999"/>
          </a:xfrm>
          <a:prstGeom prst="rect">
            <a:avLst/>
          </a:prstGeom>
          <a:solidFill>
            <a:srgbClr val="FFFFFF"/>
          </a:solidFill>
          <a:ln w="9525">
            <a:solidFill>
              <a:srgbClr val="3B3883"/>
            </a:solidFill>
            <a:prstDash val="dash"/>
          </a:ln>
        </p:spPr>
        <p:txBody>
          <a:bodyPr wrap="square" rtlCol="0">
            <a:spAutoFit/>
          </a:bodyPr>
          <a:lstStyle/>
          <a:p>
            <a:pPr algn="ctr"/>
            <a:r>
              <a:rPr lang="es-ES" sz="1200" dirty="0">
                <a:latin typeface="Century Gothic" panose="020B0502020202020204" pitchFamily="34" charset="0"/>
              </a:rPr>
              <a:t>4 Evaluators – 3 GOs</a:t>
            </a:r>
            <a:endParaRPr lang="es-ES" sz="1200" dirty="0">
              <a:solidFill>
                <a:srgbClr val="C00000"/>
              </a:solidFill>
              <a:latin typeface="Century Gothic" panose="020B0502020202020204" pitchFamily="34" charset="0"/>
            </a:endParaRPr>
          </a:p>
        </p:txBody>
      </p:sp>
      <p:sp>
        <p:nvSpPr>
          <p:cNvPr id="66" name="CuadroTexto 65">
            <a:extLst>
              <a:ext uri="{FF2B5EF4-FFF2-40B4-BE49-F238E27FC236}">
                <a16:creationId xmlns:a16="http://schemas.microsoft.com/office/drawing/2014/main" id="{FB5F07F7-E119-C381-4CF4-875B65E9749E}"/>
              </a:ext>
            </a:extLst>
          </p:cNvPr>
          <p:cNvSpPr txBox="1"/>
          <p:nvPr/>
        </p:nvSpPr>
        <p:spPr>
          <a:xfrm>
            <a:off x="4549978" y="7496441"/>
            <a:ext cx="2004061" cy="276999"/>
          </a:xfrm>
          <a:prstGeom prst="rect">
            <a:avLst/>
          </a:prstGeom>
          <a:solidFill>
            <a:srgbClr val="FFFFFF"/>
          </a:solidFill>
          <a:ln w="9525">
            <a:solidFill>
              <a:srgbClr val="3B3883"/>
            </a:solidFill>
            <a:prstDash val="dash"/>
          </a:ln>
        </p:spPr>
        <p:txBody>
          <a:bodyPr wrap="square" rtlCol="0">
            <a:spAutoFit/>
          </a:bodyPr>
          <a:lstStyle/>
          <a:p>
            <a:pPr algn="ctr"/>
            <a:r>
              <a:rPr lang="es-ES" sz="1200" dirty="0">
                <a:latin typeface="Century Gothic" panose="020B0502020202020204" pitchFamily="34" charset="0"/>
              </a:rPr>
              <a:t>6 Judges – 6 GOs</a:t>
            </a:r>
            <a:endParaRPr lang="es-ES" sz="1200" dirty="0">
              <a:solidFill>
                <a:srgbClr val="C00000"/>
              </a:solidFill>
              <a:latin typeface="Century Gothic" panose="020B0502020202020204" pitchFamily="34" charset="0"/>
            </a:endParaRPr>
          </a:p>
        </p:txBody>
      </p:sp>
      <p:sp>
        <p:nvSpPr>
          <p:cNvPr id="67" name="CuadroTexto 66">
            <a:extLst>
              <a:ext uri="{FF2B5EF4-FFF2-40B4-BE49-F238E27FC236}">
                <a16:creationId xmlns:a16="http://schemas.microsoft.com/office/drawing/2014/main" id="{17215EA6-077C-1FEE-28E2-E61916B4490D}"/>
              </a:ext>
            </a:extLst>
          </p:cNvPr>
          <p:cNvSpPr txBox="1"/>
          <p:nvPr/>
        </p:nvSpPr>
        <p:spPr>
          <a:xfrm>
            <a:off x="2454479" y="7496434"/>
            <a:ext cx="2004061" cy="276999"/>
          </a:xfrm>
          <a:prstGeom prst="rect">
            <a:avLst/>
          </a:prstGeom>
          <a:solidFill>
            <a:srgbClr val="FFFFFF"/>
          </a:solidFill>
          <a:ln w="9525">
            <a:solidFill>
              <a:srgbClr val="3B3883"/>
            </a:solidFill>
            <a:prstDash val="dash"/>
          </a:ln>
        </p:spPr>
        <p:txBody>
          <a:bodyPr wrap="square" rtlCol="0">
            <a:spAutoFit/>
          </a:bodyPr>
          <a:lstStyle/>
          <a:p>
            <a:pPr algn="ctr"/>
            <a:r>
              <a:rPr lang="es-ES" sz="1200" dirty="0">
                <a:latin typeface="Century Gothic" panose="020B0502020202020204" pitchFamily="34" charset="0"/>
              </a:rPr>
              <a:t>3 Evaluators – 3 GOs</a:t>
            </a:r>
            <a:endParaRPr lang="es-ES" sz="1200" dirty="0">
              <a:solidFill>
                <a:srgbClr val="C00000"/>
              </a:solidFill>
              <a:latin typeface="Century Gothic" panose="020B0502020202020204" pitchFamily="34" charset="0"/>
            </a:endParaRPr>
          </a:p>
        </p:txBody>
      </p:sp>
      <p:sp>
        <p:nvSpPr>
          <p:cNvPr id="68" name="CuadroTexto 67">
            <a:extLst>
              <a:ext uri="{FF2B5EF4-FFF2-40B4-BE49-F238E27FC236}">
                <a16:creationId xmlns:a16="http://schemas.microsoft.com/office/drawing/2014/main" id="{6EFE1017-DD3B-6042-43C8-FCD28E893452}"/>
              </a:ext>
            </a:extLst>
          </p:cNvPr>
          <p:cNvSpPr txBox="1"/>
          <p:nvPr/>
        </p:nvSpPr>
        <p:spPr>
          <a:xfrm>
            <a:off x="159004" y="4708304"/>
            <a:ext cx="6566798" cy="307777"/>
          </a:xfrm>
          <a:prstGeom prst="rect">
            <a:avLst/>
          </a:prstGeom>
          <a:noFill/>
        </p:spPr>
        <p:txBody>
          <a:bodyPr wrap="square" rtlCol="0">
            <a:spAutoFit/>
          </a:bodyPr>
          <a:lstStyle/>
          <a:p>
            <a:pPr algn="just"/>
            <a:r>
              <a:rPr lang="es-ES" sz="1400" b="1" dirty="0">
                <a:solidFill>
                  <a:schemeClr val="bg1"/>
                </a:solidFill>
                <a:latin typeface="Century Gothic" panose="020B0502020202020204" pitchFamily="34" charset="0"/>
              </a:rPr>
              <a:t>CRITICAL AREAS FOR THE EIC ACCELERATOR IN 2025</a:t>
            </a:r>
          </a:p>
        </p:txBody>
      </p:sp>
      <p:sp>
        <p:nvSpPr>
          <p:cNvPr id="69" name="Rectángulo: esquinas redondeadas 68">
            <a:extLst>
              <a:ext uri="{FF2B5EF4-FFF2-40B4-BE49-F238E27FC236}">
                <a16:creationId xmlns:a16="http://schemas.microsoft.com/office/drawing/2014/main" id="{60618F1A-640E-4A54-FA95-450E18F92B0D}"/>
              </a:ext>
            </a:extLst>
          </p:cNvPr>
          <p:cNvSpPr/>
          <p:nvPr/>
        </p:nvSpPr>
        <p:spPr>
          <a:xfrm>
            <a:off x="165344" y="4994861"/>
            <a:ext cx="6540479" cy="10880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4" name="CuadroTexto 73">
            <a:extLst>
              <a:ext uri="{FF2B5EF4-FFF2-40B4-BE49-F238E27FC236}">
                <a16:creationId xmlns:a16="http://schemas.microsoft.com/office/drawing/2014/main" id="{FAC52838-434D-5E0A-BB63-CC696EBCC1E9}"/>
              </a:ext>
            </a:extLst>
          </p:cNvPr>
          <p:cNvSpPr txBox="1"/>
          <p:nvPr/>
        </p:nvSpPr>
        <p:spPr>
          <a:xfrm>
            <a:off x="1435395" y="5448363"/>
            <a:ext cx="1042464" cy="461665"/>
          </a:xfrm>
          <a:prstGeom prst="rect">
            <a:avLst/>
          </a:prstGeom>
          <a:noFill/>
        </p:spPr>
        <p:txBody>
          <a:bodyPr wrap="square" rtlCol="0">
            <a:spAutoFit/>
          </a:bodyPr>
          <a:lstStyle/>
          <a:p>
            <a:r>
              <a:rPr lang="es-ES" sz="1200" dirty="0">
                <a:solidFill>
                  <a:srgbClr val="142542"/>
                </a:solidFill>
                <a:latin typeface="Century Gothic" panose="020B0502020202020204" pitchFamily="34" charset="0"/>
              </a:rPr>
              <a:t>Generative</a:t>
            </a:r>
          </a:p>
          <a:p>
            <a:r>
              <a:rPr lang="es-ES" sz="1200" dirty="0">
                <a:solidFill>
                  <a:srgbClr val="142542"/>
                </a:solidFill>
                <a:latin typeface="Century Gothic" panose="020B0502020202020204" pitchFamily="34" charset="0"/>
              </a:rPr>
              <a:t>AI</a:t>
            </a:r>
            <a:endParaRPr lang="es-ES" sz="800" dirty="0">
              <a:solidFill>
                <a:srgbClr val="142542"/>
              </a:solidFill>
              <a:latin typeface="Century Gothic" panose="020B0502020202020204" pitchFamily="34" charset="0"/>
            </a:endParaRPr>
          </a:p>
        </p:txBody>
      </p:sp>
      <p:sp>
        <p:nvSpPr>
          <p:cNvPr id="78" name="CuadroTexto 77">
            <a:extLst>
              <a:ext uri="{FF2B5EF4-FFF2-40B4-BE49-F238E27FC236}">
                <a16:creationId xmlns:a16="http://schemas.microsoft.com/office/drawing/2014/main" id="{ADC7A6C4-713F-1829-4B66-F0156E5C737B}"/>
              </a:ext>
            </a:extLst>
          </p:cNvPr>
          <p:cNvSpPr txBox="1"/>
          <p:nvPr/>
        </p:nvSpPr>
        <p:spPr>
          <a:xfrm>
            <a:off x="2497274" y="5450635"/>
            <a:ext cx="1042464" cy="461665"/>
          </a:xfrm>
          <a:prstGeom prst="rect">
            <a:avLst/>
          </a:prstGeom>
          <a:noFill/>
        </p:spPr>
        <p:txBody>
          <a:bodyPr wrap="square" rtlCol="0">
            <a:spAutoFit/>
          </a:bodyPr>
          <a:lstStyle/>
          <a:p>
            <a:r>
              <a:rPr lang="es-ES" sz="1200" dirty="0" err="1">
                <a:solidFill>
                  <a:srgbClr val="142542"/>
                </a:solidFill>
                <a:latin typeface="Century Gothic" panose="020B0502020202020204" pitchFamily="34" charset="0"/>
              </a:rPr>
              <a:t>Space</a:t>
            </a:r>
            <a:endParaRPr lang="es-ES" sz="1200" dirty="0">
              <a:solidFill>
                <a:srgbClr val="142542"/>
              </a:solidFill>
              <a:latin typeface="Century Gothic" panose="020B0502020202020204" pitchFamily="34" charset="0"/>
            </a:endParaRPr>
          </a:p>
          <a:p>
            <a:r>
              <a:rPr lang="es-ES" sz="1200" dirty="0" err="1">
                <a:solidFill>
                  <a:srgbClr val="142542"/>
                </a:solidFill>
                <a:latin typeface="Century Gothic" panose="020B0502020202020204" pitchFamily="34" charset="0"/>
              </a:rPr>
              <a:t>Innovation</a:t>
            </a:r>
            <a:endParaRPr lang="es-ES" sz="800" dirty="0">
              <a:solidFill>
                <a:srgbClr val="142542"/>
              </a:solidFill>
              <a:latin typeface="Century Gothic" panose="020B0502020202020204" pitchFamily="34" charset="0"/>
            </a:endParaRPr>
          </a:p>
        </p:txBody>
      </p:sp>
      <p:sp>
        <p:nvSpPr>
          <p:cNvPr id="79" name="CuadroTexto 78">
            <a:extLst>
              <a:ext uri="{FF2B5EF4-FFF2-40B4-BE49-F238E27FC236}">
                <a16:creationId xmlns:a16="http://schemas.microsoft.com/office/drawing/2014/main" id="{626B51BE-A475-0D7D-0C8E-672B685771A4}"/>
              </a:ext>
            </a:extLst>
          </p:cNvPr>
          <p:cNvSpPr txBox="1"/>
          <p:nvPr/>
        </p:nvSpPr>
        <p:spPr>
          <a:xfrm>
            <a:off x="3437579" y="5444612"/>
            <a:ext cx="1042464" cy="461665"/>
          </a:xfrm>
          <a:prstGeom prst="rect">
            <a:avLst/>
          </a:prstGeom>
          <a:noFill/>
        </p:spPr>
        <p:txBody>
          <a:bodyPr wrap="square" rtlCol="0">
            <a:spAutoFit/>
          </a:bodyPr>
          <a:lstStyle/>
          <a:p>
            <a:r>
              <a:rPr lang="es-ES" sz="1200" dirty="0" err="1">
                <a:solidFill>
                  <a:srgbClr val="142542"/>
                </a:solidFill>
                <a:latin typeface="Century Gothic" panose="020B0502020202020204" pitchFamily="34" charset="0"/>
              </a:rPr>
              <a:t>Advanced</a:t>
            </a:r>
            <a:br>
              <a:rPr lang="es-ES" sz="1200" dirty="0">
                <a:solidFill>
                  <a:srgbClr val="142542"/>
                </a:solidFill>
                <a:latin typeface="Century Gothic" panose="020B0502020202020204" pitchFamily="34" charset="0"/>
              </a:rPr>
            </a:br>
            <a:r>
              <a:rPr lang="es-ES" sz="1200" dirty="0" err="1">
                <a:solidFill>
                  <a:srgbClr val="142542"/>
                </a:solidFill>
                <a:latin typeface="Century Gothic" panose="020B0502020202020204" pitchFamily="34" charset="0"/>
              </a:rPr>
              <a:t>Materials</a:t>
            </a:r>
            <a:endParaRPr lang="es-ES" sz="800" dirty="0">
              <a:solidFill>
                <a:srgbClr val="142542"/>
              </a:solidFill>
              <a:latin typeface="Century Gothic" panose="020B0502020202020204" pitchFamily="34" charset="0"/>
            </a:endParaRPr>
          </a:p>
        </p:txBody>
      </p:sp>
      <p:sp>
        <p:nvSpPr>
          <p:cNvPr id="80" name="CuadroTexto 79">
            <a:extLst>
              <a:ext uri="{FF2B5EF4-FFF2-40B4-BE49-F238E27FC236}">
                <a16:creationId xmlns:a16="http://schemas.microsoft.com/office/drawing/2014/main" id="{E49113F0-5707-AEA6-8407-7131B2F9C8EC}"/>
              </a:ext>
            </a:extLst>
          </p:cNvPr>
          <p:cNvSpPr txBox="1"/>
          <p:nvPr/>
        </p:nvSpPr>
        <p:spPr>
          <a:xfrm>
            <a:off x="5413583" y="5452907"/>
            <a:ext cx="1158241" cy="646331"/>
          </a:xfrm>
          <a:prstGeom prst="rect">
            <a:avLst/>
          </a:prstGeom>
          <a:noFill/>
        </p:spPr>
        <p:txBody>
          <a:bodyPr wrap="square" rtlCol="0">
            <a:spAutoFit/>
          </a:bodyPr>
          <a:lstStyle/>
          <a:p>
            <a:r>
              <a:rPr lang="es-ES" sz="1200" dirty="0">
                <a:solidFill>
                  <a:srgbClr val="142542"/>
                </a:solidFill>
                <a:latin typeface="Century Gothic" panose="020B0502020202020204" pitchFamily="34" charset="0"/>
              </a:rPr>
              <a:t>Low </a:t>
            </a:r>
            <a:r>
              <a:rPr lang="es-ES" sz="1200" dirty="0" err="1">
                <a:solidFill>
                  <a:srgbClr val="142542"/>
                </a:solidFill>
                <a:latin typeface="Century Gothic" panose="020B0502020202020204" pitchFamily="34" charset="0"/>
              </a:rPr>
              <a:t>carbon</a:t>
            </a:r>
            <a:endParaRPr lang="es-ES" sz="1200" dirty="0">
              <a:solidFill>
                <a:srgbClr val="142542"/>
              </a:solidFill>
              <a:latin typeface="Century Gothic" panose="020B0502020202020204" pitchFamily="34" charset="0"/>
            </a:endParaRPr>
          </a:p>
          <a:p>
            <a:r>
              <a:rPr lang="es-ES" sz="1200" dirty="0" err="1">
                <a:solidFill>
                  <a:srgbClr val="142542"/>
                </a:solidFill>
                <a:latin typeface="Century Gothic" panose="020B0502020202020204" pitchFamily="34" charset="0"/>
              </a:rPr>
              <a:t>Food</a:t>
            </a:r>
            <a:r>
              <a:rPr lang="es-ES" sz="1200" dirty="0">
                <a:solidFill>
                  <a:srgbClr val="142542"/>
                </a:solidFill>
                <a:latin typeface="Century Gothic" panose="020B0502020202020204" pitchFamily="34" charset="0"/>
              </a:rPr>
              <a:t> and </a:t>
            </a:r>
            <a:r>
              <a:rPr lang="es-ES" sz="1200" dirty="0" err="1">
                <a:solidFill>
                  <a:srgbClr val="142542"/>
                </a:solidFill>
                <a:latin typeface="Century Gothic" panose="020B0502020202020204" pitchFamily="34" charset="0"/>
              </a:rPr>
              <a:t>Feed</a:t>
            </a:r>
            <a:endParaRPr lang="es-ES" sz="800" dirty="0">
              <a:solidFill>
                <a:srgbClr val="142542"/>
              </a:solidFill>
              <a:latin typeface="Century Gothic" panose="020B0502020202020204" pitchFamily="34" charset="0"/>
            </a:endParaRPr>
          </a:p>
        </p:txBody>
      </p:sp>
      <p:sp>
        <p:nvSpPr>
          <p:cNvPr id="81" name="CuadroTexto 80">
            <a:extLst>
              <a:ext uri="{FF2B5EF4-FFF2-40B4-BE49-F238E27FC236}">
                <a16:creationId xmlns:a16="http://schemas.microsoft.com/office/drawing/2014/main" id="{C372CEAF-20C6-1B21-49A1-5E39B90F45CF}"/>
              </a:ext>
            </a:extLst>
          </p:cNvPr>
          <p:cNvSpPr txBox="1"/>
          <p:nvPr/>
        </p:nvSpPr>
        <p:spPr>
          <a:xfrm>
            <a:off x="4488261" y="5441531"/>
            <a:ext cx="944031" cy="461665"/>
          </a:xfrm>
          <a:prstGeom prst="rect">
            <a:avLst/>
          </a:prstGeom>
          <a:noFill/>
        </p:spPr>
        <p:txBody>
          <a:bodyPr wrap="square" rtlCol="0">
            <a:spAutoFit/>
          </a:bodyPr>
          <a:lstStyle/>
          <a:p>
            <a:pPr algn="ctr"/>
            <a:r>
              <a:rPr lang="es-ES" sz="1200" dirty="0">
                <a:solidFill>
                  <a:srgbClr val="142542"/>
                </a:solidFill>
                <a:latin typeface="Century Gothic" panose="020B0502020202020204" pitchFamily="34" charset="0"/>
              </a:rPr>
              <a:t>Future</a:t>
            </a:r>
          </a:p>
          <a:p>
            <a:pPr algn="ctr"/>
            <a:r>
              <a:rPr lang="es-ES" sz="1200" dirty="0" err="1">
                <a:solidFill>
                  <a:srgbClr val="142542"/>
                </a:solidFill>
                <a:latin typeface="Century Gothic" panose="020B0502020202020204" pitchFamily="34" charset="0"/>
              </a:rPr>
              <a:t>Mobility</a:t>
            </a:r>
            <a:endParaRPr lang="es-ES" sz="800" dirty="0">
              <a:solidFill>
                <a:srgbClr val="142542"/>
              </a:solidFill>
              <a:latin typeface="Century Gothic" panose="020B0502020202020204" pitchFamily="34" charset="0"/>
            </a:endParaRPr>
          </a:p>
        </p:txBody>
      </p:sp>
      <p:cxnSp>
        <p:nvCxnSpPr>
          <p:cNvPr id="83" name="Conector recto 82">
            <a:extLst>
              <a:ext uri="{FF2B5EF4-FFF2-40B4-BE49-F238E27FC236}">
                <a16:creationId xmlns:a16="http://schemas.microsoft.com/office/drawing/2014/main" id="{3E594016-C8AB-6385-24C3-849350E44AB3}"/>
              </a:ext>
            </a:extLst>
          </p:cNvPr>
          <p:cNvCxnSpPr>
            <a:cxnSpLocks/>
          </p:cNvCxnSpPr>
          <p:nvPr/>
        </p:nvCxnSpPr>
        <p:spPr>
          <a:xfrm flipV="1">
            <a:off x="2476273" y="5393010"/>
            <a:ext cx="0" cy="805466"/>
          </a:xfrm>
          <a:prstGeom prst="line">
            <a:avLst/>
          </a:prstGeom>
          <a:ln>
            <a:solidFill>
              <a:srgbClr val="203864"/>
            </a:solidFill>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09DA97FA-54D0-C25C-38BE-3D1633257DAE}"/>
              </a:ext>
            </a:extLst>
          </p:cNvPr>
          <p:cNvCxnSpPr>
            <a:cxnSpLocks/>
          </p:cNvCxnSpPr>
          <p:nvPr/>
        </p:nvCxnSpPr>
        <p:spPr>
          <a:xfrm flipV="1">
            <a:off x="3447067" y="5408931"/>
            <a:ext cx="0" cy="917141"/>
          </a:xfrm>
          <a:prstGeom prst="line">
            <a:avLst/>
          </a:prstGeom>
          <a:ln>
            <a:solidFill>
              <a:srgbClr val="203864"/>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CF34FB30-AF71-9FE6-965F-F7354455B1A0}"/>
              </a:ext>
            </a:extLst>
          </p:cNvPr>
          <p:cNvCxnSpPr>
            <a:cxnSpLocks/>
          </p:cNvCxnSpPr>
          <p:nvPr/>
        </p:nvCxnSpPr>
        <p:spPr>
          <a:xfrm flipV="1">
            <a:off x="4456362" y="5367986"/>
            <a:ext cx="0" cy="958086"/>
          </a:xfrm>
          <a:prstGeom prst="line">
            <a:avLst/>
          </a:prstGeom>
          <a:ln>
            <a:solidFill>
              <a:srgbClr val="203864"/>
            </a:solidFill>
          </a:ln>
        </p:spPr>
        <p:style>
          <a:lnRef idx="1">
            <a:schemeClr val="accent1"/>
          </a:lnRef>
          <a:fillRef idx="0">
            <a:schemeClr val="accent1"/>
          </a:fillRef>
          <a:effectRef idx="0">
            <a:schemeClr val="accent1"/>
          </a:effectRef>
          <a:fontRef idx="minor">
            <a:schemeClr val="tx1"/>
          </a:fontRef>
        </p:style>
      </p:cxnSp>
      <p:cxnSp>
        <p:nvCxnSpPr>
          <p:cNvPr id="86" name="Conector recto 85">
            <a:extLst>
              <a:ext uri="{FF2B5EF4-FFF2-40B4-BE49-F238E27FC236}">
                <a16:creationId xmlns:a16="http://schemas.microsoft.com/office/drawing/2014/main" id="{10330D19-EAFA-486F-64B8-6F389F6C1742}"/>
              </a:ext>
            </a:extLst>
          </p:cNvPr>
          <p:cNvCxnSpPr>
            <a:cxnSpLocks/>
          </p:cNvCxnSpPr>
          <p:nvPr/>
        </p:nvCxnSpPr>
        <p:spPr>
          <a:xfrm flipV="1">
            <a:off x="5416527" y="5397555"/>
            <a:ext cx="0" cy="928517"/>
          </a:xfrm>
          <a:prstGeom prst="line">
            <a:avLst/>
          </a:prstGeom>
          <a:ln>
            <a:solidFill>
              <a:srgbClr val="203864"/>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CB72E288-1DD5-B856-3EA1-AB42570B93FC}"/>
              </a:ext>
            </a:extLst>
          </p:cNvPr>
          <p:cNvSpPr txBox="1"/>
          <p:nvPr/>
        </p:nvSpPr>
        <p:spPr>
          <a:xfrm>
            <a:off x="-13170" y="86825"/>
            <a:ext cx="6857980" cy="461665"/>
          </a:xfrm>
          <a:prstGeom prst="rect">
            <a:avLst/>
          </a:prstGeom>
          <a:noFill/>
        </p:spPr>
        <p:txBody>
          <a:bodyPr wrap="square" rtlCol="0">
            <a:spAutoFit/>
          </a:bodyPr>
          <a:lstStyle/>
          <a:p>
            <a:pPr algn="ctr"/>
            <a:r>
              <a:rPr lang="es-ES" sz="2400" b="1" dirty="0">
                <a:solidFill>
                  <a:schemeClr val="bg1"/>
                </a:solidFill>
                <a:latin typeface="Century Gothic" panose="020B0502020202020204" pitchFamily="34" charset="0"/>
              </a:rPr>
              <a:t>THE EIC ACCELERATOR</a:t>
            </a:r>
          </a:p>
        </p:txBody>
      </p:sp>
      <p:cxnSp>
        <p:nvCxnSpPr>
          <p:cNvPr id="11" name="Conector recto 10">
            <a:extLst>
              <a:ext uri="{FF2B5EF4-FFF2-40B4-BE49-F238E27FC236}">
                <a16:creationId xmlns:a16="http://schemas.microsoft.com/office/drawing/2014/main" id="{EC717D8A-326D-AF87-35B0-E3DB5B4EBE5B}"/>
              </a:ext>
            </a:extLst>
          </p:cNvPr>
          <p:cNvCxnSpPr>
            <a:cxnSpLocks/>
          </p:cNvCxnSpPr>
          <p:nvPr/>
        </p:nvCxnSpPr>
        <p:spPr>
          <a:xfrm flipV="1">
            <a:off x="1434279" y="5374511"/>
            <a:ext cx="0" cy="823965"/>
          </a:xfrm>
          <a:prstGeom prst="line">
            <a:avLst/>
          </a:prstGeom>
          <a:ln>
            <a:solidFill>
              <a:srgbClr val="203864"/>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5B6156BF-4CDC-64B4-20B2-1C532BF68832}"/>
              </a:ext>
            </a:extLst>
          </p:cNvPr>
          <p:cNvSpPr txBox="1"/>
          <p:nvPr/>
        </p:nvSpPr>
        <p:spPr>
          <a:xfrm>
            <a:off x="450116" y="5451904"/>
            <a:ext cx="1042464" cy="461665"/>
          </a:xfrm>
          <a:prstGeom prst="rect">
            <a:avLst/>
          </a:prstGeom>
          <a:noFill/>
        </p:spPr>
        <p:txBody>
          <a:bodyPr wrap="square" rtlCol="0">
            <a:spAutoFit/>
          </a:bodyPr>
          <a:lstStyle/>
          <a:p>
            <a:r>
              <a:rPr lang="es-ES" sz="1200" dirty="0">
                <a:solidFill>
                  <a:srgbClr val="142542"/>
                </a:solidFill>
                <a:latin typeface="Century Gothic" panose="020B0502020202020204" pitchFamily="34" charset="0"/>
              </a:rPr>
              <a:t>Medical</a:t>
            </a:r>
          </a:p>
          <a:p>
            <a:r>
              <a:rPr lang="es-ES" sz="1200" dirty="0" err="1">
                <a:solidFill>
                  <a:srgbClr val="142542"/>
                </a:solidFill>
                <a:latin typeface="Century Gothic" panose="020B0502020202020204" pitchFamily="34" charset="0"/>
              </a:rPr>
              <a:t>Tech</a:t>
            </a:r>
            <a:endParaRPr lang="es-ES" sz="800" dirty="0">
              <a:solidFill>
                <a:srgbClr val="142542"/>
              </a:solidFill>
              <a:latin typeface="Century Gothic" panose="020B0502020202020204" pitchFamily="34" charset="0"/>
            </a:endParaRPr>
          </a:p>
        </p:txBody>
      </p:sp>
      <p:pic>
        <p:nvPicPr>
          <p:cNvPr id="26" name="Gráfico 25" descr="Estetoscopio con relleno sólido">
            <a:extLst>
              <a:ext uri="{FF2B5EF4-FFF2-40B4-BE49-F238E27FC236}">
                <a16:creationId xmlns:a16="http://schemas.microsoft.com/office/drawing/2014/main" id="{AB66F56F-B74B-AAF0-AA4F-F2C9DE1611F2}"/>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626153" y="5087990"/>
            <a:ext cx="394575" cy="394575"/>
          </a:xfrm>
          <a:prstGeom prst="rect">
            <a:avLst/>
          </a:prstGeom>
        </p:spPr>
      </p:pic>
      <p:pic>
        <p:nvPicPr>
          <p:cNvPr id="28" name="Gráfico 27" descr="Robot con relleno sólido">
            <a:extLst>
              <a:ext uri="{FF2B5EF4-FFF2-40B4-BE49-F238E27FC236}">
                <a16:creationId xmlns:a16="http://schemas.microsoft.com/office/drawing/2014/main" id="{010AC6EE-5B05-B549-1CE4-1957E1624FE9}"/>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1724847" y="5091532"/>
            <a:ext cx="394575" cy="394575"/>
          </a:xfrm>
          <a:prstGeom prst="rect">
            <a:avLst/>
          </a:prstGeom>
        </p:spPr>
      </p:pic>
      <p:pic>
        <p:nvPicPr>
          <p:cNvPr id="31" name="Gráfico 30" descr="Satélite con relleno sólido">
            <a:extLst>
              <a:ext uri="{FF2B5EF4-FFF2-40B4-BE49-F238E27FC236}">
                <a16:creationId xmlns:a16="http://schemas.microsoft.com/office/drawing/2014/main" id="{CD26CA85-ACF7-F922-DC57-DB6FBE43FFA7}"/>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2759753" y="5095075"/>
            <a:ext cx="394575" cy="394575"/>
          </a:xfrm>
          <a:prstGeom prst="rect">
            <a:avLst/>
          </a:prstGeom>
        </p:spPr>
      </p:pic>
      <p:pic>
        <p:nvPicPr>
          <p:cNvPr id="33" name="Gráfico 32" descr="Cristales con relleno sólido">
            <a:extLst>
              <a:ext uri="{FF2B5EF4-FFF2-40B4-BE49-F238E27FC236}">
                <a16:creationId xmlns:a16="http://schemas.microsoft.com/office/drawing/2014/main" id="{CCA85240-F1D3-F350-A9C6-A477AC4415F1}"/>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3741497" y="5098616"/>
            <a:ext cx="394575" cy="394575"/>
          </a:xfrm>
          <a:prstGeom prst="rect">
            <a:avLst/>
          </a:prstGeom>
        </p:spPr>
      </p:pic>
      <p:pic>
        <p:nvPicPr>
          <p:cNvPr id="35" name="Gráfico 34" descr="Convertible con relleno sólido">
            <a:extLst>
              <a:ext uri="{FF2B5EF4-FFF2-40B4-BE49-F238E27FC236}">
                <a16:creationId xmlns:a16="http://schemas.microsoft.com/office/drawing/2014/main" id="{BEA2CF18-B8F5-A51C-A9D9-9A610B388160}"/>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4712607" y="5102157"/>
            <a:ext cx="394575" cy="394575"/>
          </a:xfrm>
          <a:prstGeom prst="rect">
            <a:avLst/>
          </a:prstGeom>
        </p:spPr>
      </p:pic>
      <p:pic>
        <p:nvPicPr>
          <p:cNvPr id="37" name="Gráfico 36" descr="Vaca con relleno sólido">
            <a:extLst>
              <a:ext uri="{FF2B5EF4-FFF2-40B4-BE49-F238E27FC236}">
                <a16:creationId xmlns:a16="http://schemas.microsoft.com/office/drawing/2014/main" id="{68814AEC-4642-DA4A-33BF-148A48301794}"/>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5715615" y="5116332"/>
            <a:ext cx="394575" cy="394575"/>
          </a:xfrm>
          <a:prstGeom prst="rect">
            <a:avLst/>
          </a:prstGeom>
        </p:spPr>
      </p:pic>
    </p:spTree>
    <p:extLst>
      <p:ext uri="{BB962C8B-B14F-4D97-AF65-F5344CB8AC3E}">
        <p14:creationId xmlns:p14="http://schemas.microsoft.com/office/powerpoint/2010/main" val="241080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312A-25B4-AD9E-A0CB-E8E5E242B93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64FB665-EA14-60B5-DAF9-656F6E3B736D}"/>
              </a:ext>
            </a:extLst>
          </p:cNvPr>
          <p:cNvSpPr txBox="1"/>
          <p:nvPr/>
        </p:nvSpPr>
        <p:spPr>
          <a:xfrm>
            <a:off x="644857" y="3630056"/>
            <a:ext cx="5568286" cy="2763770"/>
          </a:xfrm>
          <a:prstGeom prst="rect">
            <a:avLst/>
          </a:prstGeom>
          <a:noFill/>
        </p:spPr>
        <p:txBody>
          <a:bodyPr wrap="square" rtlCol="0">
            <a:spAutoFit/>
          </a:bodyPr>
          <a:lstStyle/>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Reaching the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final phase of the EIC Accelerator (interview) </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demonstrates that the project meets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high-impact innovation standards</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making it adaptable to many other funding programs.</a:t>
            </a:r>
          </a:p>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Many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European, national, and regional funding programs </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require either:</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A project that has reached the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EIC Final Interview stage</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A project that has obtained the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Seal of Excellence </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(issued when the EIC evaluates a project as fundable but lacks budget).</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Previous </a:t>
            </a: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EIC funding </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as a prerequisite for additional public investment (EIC STEP Scale Up, </a:t>
            </a:r>
            <a:r>
              <a:rPr kumimoji="0" lang="en-US" sz="1200" b="0" i="0" u="none" strike="noStrike" kern="1200" cap="none" spc="0" normalizeH="0" baseline="0" noProof="0" dirty="0" err="1">
                <a:ln>
                  <a:noFill/>
                </a:ln>
                <a:solidFill>
                  <a:srgbClr val="374151"/>
                </a:solidFill>
                <a:effectLst/>
                <a:uLnTx/>
                <a:uFillTx/>
                <a:latin typeface="Century Gothic" panose="020B0502020202020204" pitchFamily="34" charset="0"/>
                <a:ea typeface="+mn-ea"/>
                <a:cs typeface="+mn-cs"/>
              </a:rPr>
              <a:t>InvestEU</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etc.).</a:t>
            </a:r>
          </a:p>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This recognition opens doors to alternative public funding, significantly increasing financing opportunities.</a:t>
            </a:r>
            <a:endParaRPr kumimoji="0" lang="es-E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cxnSp>
        <p:nvCxnSpPr>
          <p:cNvPr id="4" name="Conector recto 3">
            <a:extLst>
              <a:ext uri="{FF2B5EF4-FFF2-40B4-BE49-F238E27FC236}">
                <a16:creationId xmlns:a16="http://schemas.microsoft.com/office/drawing/2014/main" id="{6C2FB6E6-E8E2-38B2-E69E-F189E447DDB5}"/>
              </a:ext>
            </a:extLst>
          </p:cNvPr>
          <p:cNvCxnSpPr>
            <a:cxnSpLocks/>
          </p:cNvCxnSpPr>
          <p:nvPr/>
        </p:nvCxnSpPr>
        <p:spPr>
          <a:xfrm>
            <a:off x="728818" y="3597458"/>
            <a:ext cx="1665247" cy="0"/>
          </a:xfrm>
          <a:prstGeom prst="line">
            <a:avLst/>
          </a:prstGeom>
          <a:ln w="38100">
            <a:solidFill>
              <a:srgbClr val="142542"/>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65DC708-1EE6-3745-711E-B7C957376102}"/>
              </a:ext>
            </a:extLst>
          </p:cNvPr>
          <p:cNvSpPr txBox="1"/>
          <p:nvPr/>
        </p:nvSpPr>
        <p:spPr>
          <a:xfrm>
            <a:off x="644857" y="488704"/>
            <a:ext cx="5568286" cy="830997"/>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rPr>
              <a:t>Beyond the EIC: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rPr>
              <a:t>Alternative Public Funding Opportunities</a:t>
            </a:r>
            <a:endParaRPr kumimoji="0" lang="es-ES" sz="20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endParaRPr>
          </a:p>
        </p:txBody>
      </p:sp>
      <p:sp>
        <p:nvSpPr>
          <p:cNvPr id="3" name="Marcador de número de diapositiva 2">
            <a:extLst>
              <a:ext uri="{FF2B5EF4-FFF2-40B4-BE49-F238E27FC236}">
                <a16:creationId xmlns:a16="http://schemas.microsoft.com/office/drawing/2014/main" id="{9741A4E3-4BC6-2B5E-C728-56412114727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25F90D-6CCB-471F-89CD-46DB18BC9278}" type="slidenum">
              <a:rPr kumimoji="0" lang="en-US"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CuadroTexto 7">
            <a:extLst>
              <a:ext uri="{FF2B5EF4-FFF2-40B4-BE49-F238E27FC236}">
                <a16:creationId xmlns:a16="http://schemas.microsoft.com/office/drawing/2014/main" id="{F3A27608-2403-0E8D-9900-5E38F263D2A6}"/>
              </a:ext>
            </a:extLst>
          </p:cNvPr>
          <p:cNvSpPr txBox="1"/>
          <p:nvPr/>
        </p:nvSpPr>
        <p:spPr>
          <a:xfrm>
            <a:off x="641852" y="3253646"/>
            <a:ext cx="4705496" cy="334707"/>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US" sz="16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rPr>
              <a:t>The EIC as a Gateway to Public Funding</a:t>
            </a:r>
            <a:endParaRPr kumimoji="0" lang="es-ES" sz="16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endParaRPr>
          </a:p>
        </p:txBody>
      </p:sp>
      <p:sp>
        <p:nvSpPr>
          <p:cNvPr id="19" name="CuadroTexto 18">
            <a:extLst>
              <a:ext uri="{FF2B5EF4-FFF2-40B4-BE49-F238E27FC236}">
                <a16:creationId xmlns:a16="http://schemas.microsoft.com/office/drawing/2014/main" id="{043E0D7B-9D8C-A9B1-959C-E2DADDB1F914}"/>
              </a:ext>
            </a:extLst>
          </p:cNvPr>
          <p:cNvSpPr txBox="1"/>
          <p:nvPr/>
        </p:nvSpPr>
        <p:spPr>
          <a:xfrm>
            <a:off x="654004" y="7054939"/>
            <a:ext cx="5568286" cy="2266070"/>
          </a:xfrm>
          <a:prstGeom prst="rect">
            <a:avLst/>
          </a:prstGeom>
          <a:noFill/>
        </p:spPr>
        <p:txBody>
          <a:bodyPr wrap="square" rtlCol="0">
            <a:spAutoFit/>
          </a:bodyPr>
          <a:lstStyle/>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err="1">
                <a:ln>
                  <a:noFill/>
                </a:ln>
                <a:solidFill>
                  <a:srgbClr val="374151"/>
                </a:solidFill>
                <a:effectLst/>
                <a:uLnTx/>
                <a:uFillTx/>
                <a:latin typeface="Century Gothic" panose="020B0502020202020204" pitchFamily="34" charset="0"/>
                <a:ea typeface="+mn-ea"/>
                <a:cs typeface="+mn-cs"/>
              </a:rPr>
              <a:t>eyond</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the EIC Accelerator, we help companies access:</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Competitive Public Grants</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Non-repayable funds for high-tech innovation (e.g., </a:t>
            </a:r>
            <a:r>
              <a:rPr kumimoji="0" lang="en-US" sz="1200" b="0" i="0" u="none" strike="noStrike" kern="1200" cap="none" spc="0" normalizeH="0" baseline="0" noProof="0" dirty="0" err="1">
                <a:ln>
                  <a:noFill/>
                </a:ln>
                <a:solidFill>
                  <a:srgbClr val="374151"/>
                </a:solidFill>
                <a:effectLst/>
                <a:uLnTx/>
                <a:uFillTx/>
                <a:latin typeface="Century Gothic" panose="020B0502020202020204" pitchFamily="34" charset="0"/>
                <a:ea typeface="+mn-ea"/>
                <a:cs typeface="+mn-cs"/>
              </a:rPr>
              <a:t>Eurostars</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Innovation Fund).</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Soft Loans and Credit Facilities</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Government-backed loans with preferential conditions (e.g., CDTI, </a:t>
            </a:r>
            <a:r>
              <a:rPr kumimoji="0" lang="en-US" sz="1200" b="0" i="0" u="none" strike="noStrike" kern="1200" cap="none" spc="0" normalizeH="0" baseline="0" noProof="0" dirty="0" err="1">
                <a:ln>
                  <a:noFill/>
                </a:ln>
                <a:solidFill>
                  <a:srgbClr val="374151"/>
                </a:solidFill>
                <a:effectLst/>
                <a:uLnTx/>
                <a:uFillTx/>
                <a:latin typeface="Century Gothic" panose="020B0502020202020204" pitchFamily="34" charset="0"/>
                <a:ea typeface="+mn-ea"/>
                <a:cs typeface="+mn-cs"/>
              </a:rPr>
              <a:t>Bpifrance</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Business Finland).</a:t>
            </a:r>
          </a:p>
          <a:p>
            <a:pPr marL="171450" marR="0" lvl="0" indent="-171450" algn="just" defTabSz="4572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Public Investment &amp; Equity Financing</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Direct public investment in startups and scale-ups (e.g., EIC Fund, </a:t>
            </a:r>
            <a:r>
              <a:rPr kumimoji="0" lang="en-US" sz="1200" b="0" i="0" u="none" strike="noStrike" kern="1200" cap="none" spc="0" normalizeH="0" baseline="0" noProof="0" dirty="0" err="1">
                <a:ln>
                  <a:noFill/>
                </a:ln>
                <a:solidFill>
                  <a:srgbClr val="374151"/>
                </a:solidFill>
                <a:effectLst/>
                <a:uLnTx/>
                <a:uFillTx/>
                <a:latin typeface="Century Gothic" panose="020B0502020202020204" pitchFamily="34" charset="0"/>
                <a:ea typeface="+mn-ea"/>
                <a:cs typeface="+mn-cs"/>
              </a:rPr>
              <a:t>InvestEU</a:t>
            </a: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 development banks).</a:t>
            </a:r>
          </a:p>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Each funding program has its own eligibility requirements, deadlines, and evaluation criteria.</a:t>
            </a:r>
            <a:endParaRPr kumimoji="0" lang="es-ES" sz="12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endParaRPr>
          </a:p>
        </p:txBody>
      </p:sp>
      <p:cxnSp>
        <p:nvCxnSpPr>
          <p:cNvPr id="20" name="Conector recto 19">
            <a:extLst>
              <a:ext uri="{FF2B5EF4-FFF2-40B4-BE49-F238E27FC236}">
                <a16:creationId xmlns:a16="http://schemas.microsoft.com/office/drawing/2014/main" id="{21B503E4-21B9-5E41-1B81-7CBE3ACA7F2D}"/>
              </a:ext>
            </a:extLst>
          </p:cNvPr>
          <p:cNvCxnSpPr>
            <a:cxnSpLocks/>
          </p:cNvCxnSpPr>
          <p:nvPr/>
        </p:nvCxnSpPr>
        <p:spPr>
          <a:xfrm>
            <a:off x="737965" y="7022341"/>
            <a:ext cx="1665247" cy="0"/>
          </a:xfrm>
          <a:prstGeom prst="line">
            <a:avLst/>
          </a:prstGeom>
          <a:ln w="38100">
            <a:solidFill>
              <a:srgbClr val="142542"/>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BA059841-B312-D440-0722-ACBB98484692}"/>
              </a:ext>
            </a:extLst>
          </p:cNvPr>
          <p:cNvSpPr txBox="1"/>
          <p:nvPr/>
        </p:nvSpPr>
        <p:spPr>
          <a:xfrm>
            <a:off x="708750" y="6659278"/>
            <a:ext cx="4705496" cy="334707"/>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US" sz="16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rPr>
              <a:t>Expanding Your Access to Public Funding</a:t>
            </a:r>
            <a:r>
              <a:rPr kumimoji="0" lang="es-ES" sz="16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rPr>
              <a:t>.</a:t>
            </a:r>
            <a:endParaRPr kumimoji="0" lang="en-US" sz="1600" b="1" i="0" u="none" strike="noStrike" kern="1200" cap="none" spc="0" normalizeH="0" baseline="0" noProof="0" dirty="0">
              <a:ln>
                <a:noFill/>
              </a:ln>
              <a:solidFill>
                <a:srgbClr val="203864"/>
              </a:solidFill>
              <a:effectLst/>
              <a:uLnTx/>
              <a:uFillTx/>
              <a:latin typeface="Century Gothic" panose="020B0502020202020204" pitchFamily="34" charset="0"/>
              <a:ea typeface="+mn-ea"/>
              <a:cs typeface="+mn-cs"/>
            </a:endParaRPr>
          </a:p>
        </p:txBody>
      </p:sp>
      <p:graphicFrame>
        <p:nvGraphicFramePr>
          <p:cNvPr id="12" name="Diagrama 11">
            <a:extLst>
              <a:ext uri="{FF2B5EF4-FFF2-40B4-BE49-F238E27FC236}">
                <a16:creationId xmlns:a16="http://schemas.microsoft.com/office/drawing/2014/main" id="{5422805C-EE93-CF8E-F483-97A2000A792B}"/>
              </a:ext>
            </a:extLst>
          </p:cNvPr>
          <p:cNvGraphicFramePr/>
          <p:nvPr>
            <p:extLst>
              <p:ext uri="{D42A27DB-BD31-4B8C-83A1-F6EECF244321}">
                <p14:modId xmlns:p14="http://schemas.microsoft.com/office/powerpoint/2010/main" val="826471252"/>
              </p:ext>
            </p:extLst>
          </p:nvPr>
        </p:nvGraphicFramePr>
        <p:xfrm>
          <a:off x="269509" y="2464073"/>
          <a:ext cx="6275671" cy="2097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CuadroTexto 23">
            <a:extLst>
              <a:ext uri="{FF2B5EF4-FFF2-40B4-BE49-F238E27FC236}">
                <a16:creationId xmlns:a16="http://schemas.microsoft.com/office/drawing/2014/main" id="{341924BC-1824-B3E2-EA9F-C90C52377B1D}"/>
              </a:ext>
            </a:extLst>
          </p:cNvPr>
          <p:cNvSpPr txBox="1"/>
          <p:nvPr/>
        </p:nvSpPr>
        <p:spPr>
          <a:xfrm>
            <a:off x="2557435" y="1736135"/>
            <a:ext cx="1761424" cy="573555"/>
          </a:xfrm>
          <a:prstGeom prst="rect">
            <a:avLst/>
          </a:prstGeom>
          <a:noFill/>
        </p:spPr>
        <p:txBody>
          <a:bodyPr wrap="square">
            <a:spAutoFit/>
          </a:bodyPr>
          <a:lstStyle/>
          <a:p>
            <a:pPr marL="171450" marR="0" lvl="0" indent="-171450" algn="just" defTabSz="457200" rtl="0" eaLnBrk="1" fontAlgn="auto" latinLnBrk="0" hangingPunct="1">
              <a:lnSpc>
                <a:spcPct val="107000"/>
              </a:lnSpc>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A Competing Project.</a:t>
            </a:r>
          </a:p>
          <a:p>
            <a:pPr marL="171450" marR="0" lvl="0" indent="-171450" algn="just" defTabSz="457200" rtl="0" eaLnBrk="1" fontAlgn="auto" latinLnBrk="0" hangingPunct="1">
              <a:lnSpc>
                <a:spcPct val="107000"/>
              </a:lnSpc>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rPr>
              <a:t>Seal of Excellence.</a:t>
            </a:r>
          </a:p>
          <a:p>
            <a:pPr marL="171450" marR="0" lvl="0" indent="-171450" algn="just" defTabSz="457200" rtl="0" eaLnBrk="1" fontAlgn="auto" latinLnBrk="0" hangingPunct="1">
              <a:lnSpc>
                <a:spcPct val="107000"/>
              </a:lnSpc>
              <a:buClrTx/>
              <a:buSzTx/>
              <a:buFont typeface="Arial" panose="020B0604020202020204" pitchFamily="34" charset="0"/>
              <a:buChar char="•"/>
              <a:tabLst/>
              <a:defRPr/>
            </a:pPr>
            <a:r>
              <a:rPr lang="en-US" sz="1000" dirty="0">
                <a:solidFill>
                  <a:srgbClr val="374151"/>
                </a:solidFill>
                <a:latin typeface="Century Gothic" panose="020B0502020202020204" pitchFamily="34" charset="0"/>
              </a:rPr>
              <a:t>EIC </a:t>
            </a:r>
            <a:r>
              <a:rPr lang="en-US" sz="1000" dirty="0" err="1">
                <a:solidFill>
                  <a:srgbClr val="374151"/>
                </a:solidFill>
                <a:latin typeface="Century Gothic" panose="020B0502020202020204" pitchFamily="34" charset="0"/>
              </a:rPr>
              <a:t>Fundinfg</a:t>
            </a:r>
            <a:endParaRPr kumimoji="0" lang="en-US" sz="1000" b="0" i="0" u="none" strike="noStrike" kern="1200" cap="none" spc="0" normalizeH="0" baseline="0" noProof="0" dirty="0">
              <a:ln>
                <a:noFill/>
              </a:ln>
              <a:solidFill>
                <a:srgbClr val="374151"/>
              </a:solidFill>
              <a:effectLst/>
              <a:uLnTx/>
              <a:uFillTx/>
              <a:latin typeface="Century Gothic" panose="020B0502020202020204" pitchFamily="34" charset="0"/>
              <a:ea typeface="+mn-ea"/>
              <a:cs typeface="+mn-cs"/>
            </a:endParaRPr>
          </a:p>
        </p:txBody>
      </p:sp>
      <p:pic>
        <p:nvPicPr>
          <p:cNvPr id="1027" name="Picture 3" descr="Communication toolkit | EIC Community">
            <a:extLst>
              <a:ext uri="{FF2B5EF4-FFF2-40B4-BE49-F238E27FC236}">
                <a16:creationId xmlns:a16="http://schemas.microsoft.com/office/drawing/2014/main" id="{4727EBEF-7DDE-ADE1-AC48-B954BE2490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512" y="1743031"/>
            <a:ext cx="1780674" cy="59850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EIT - European Institute of Innovation and Technology Logo &amp; Brand Assets  (SVG, PNG and vector) - Brandfetch">
            <a:extLst>
              <a:ext uri="{FF2B5EF4-FFF2-40B4-BE49-F238E27FC236}">
                <a16:creationId xmlns:a16="http://schemas.microsoft.com/office/drawing/2014/main" id="{52FEF10C-C58F-E29E-D023-6CAF52255B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3691" y="1975545"/>
            <a:ext cx="416833" cy="41683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Our logo: our history, our future">
            <a:extLst>
              <a:ext uri="{FF2B5EF4-FFF2-40B4-BE49-F238E27FC236}">
                <a16:creationId xmlns:a16="http://schemas.microsoft.com/office/drawing/2014/main" id="{97189398-1761-3150-6FBC-656B4987EE7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369" t="11444" r="27158" b="8985"/>
          <a:stretch/>
        </p:blipFill>
        <p:spPr bwMode="auto">
          <a:xfrm>
            <a:off x="4988468" y="1962352"/>
            <a:ext cx="565309" cy="424529"/>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extLst>
              <a:ext uri="{FF2B5EF4-FFF2-40B4-BE49-F238E27FC236}">
                <a16:creationId xmlns:a16="http://schemas.microsoft.com/office/drawing/2014/main" id="{6DF4F31A-F815-4133-DEBC-BCFDA439A8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5687" y="1657792"/>
            <a:ext cx="565309" cy="200932"/>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Eurostars | EU Projects Office">
            <a:extLst>
              <a:ext uri="{FF2B5EF4-FFF2-40B4-BE49-F238E27FC236}">
                <a16:creationId xmlns:a16="http://schemas.microsoft.com/office/drawing/2014/main" id="{BBA1F876-1C79-FA61-DBFB-493ADB2F914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1722" y="1962351"/>
            <a:ext cx="568442" cy="463125"/>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InvestEU - Fundación Galicia Europa">
            <a:extLst>
              <a:ext uri="{FF2B5EF4-FFF2-40B4-BE49-F238E27FC236}">
                <a16:creationId xmlns:a16="http://schemas.microsoft.com/office/drawing/2014/main" id="{E0677BCC-BBA8-A5A0-C70C-E8F574324A4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05462" y="1543116"/>
            <a:ext cx="417567" cy="34115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Invest EU Fund - Microfinance Ireland">
            <a:extLst>
              <a:ext uri="{FF2B5EF4-FFF2-40B4-BE49-F238E27FC236}">
                <a16:creationId xmlns:a16="http://schemas.microsoft.com/office/drawing/2014/main" id="{25E31A57-58B9-B3B5-77C0-A2F0C610195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67495" y="1604295"/>
            <a:ext cx="523847" cy="296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65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6B8D8B-FC65-5475-4213-5DE87464883B}"/>
              </a:ext>
            </a:extLst>
          </p:cNvPr>
          <p:cNvSpPr txBox="1"/>
          <p:nvPr/>
        </p:nvSpPr>
        <p:spPr>
          <a:xfrm>
            <a:off x="644857" y="2667528"/>
            <a:ext cx="5568286" cy="1262718"/>
          </a:xfrm>
          <a:prstGeom prst="rect">
            <a:avLst/>
          </a:prstGeom>
          <a:noFill/>
        </p:spPr>
        <p:txBody>
          <a:bodyPr wrap="square" rtlCol="0">
            <a:spAutoFit/>
          </a:bodyPr>
          <a:lstStyle/>
          <a:p>
            <a:pPr algn="just">
              <a:lnSpc>
                <a:spcPct val="107000"/>
              </a:lnSpc>
              <a:spcAft>
                <a:spcPts val="800"/>
              </a:spcAft>
            </a:pPr>
            <a:r>
              <a:rPr lang="en-US" sz="1200" b="0" i="0" dirty="0">
                <a:solidFill>
                  <a:srgbClr val="374151"/>
                </a:solidFill>
                <a:effectLst/>
                <a:latin typeface="Century Gothic" panose="020B0502020202020204" pitchFamily="34" charset="0"/>
              </a:rPr>
              <a:t>Silicon Capital's partnership offers you the invaluable benefit of our extensive experience within the EIC Accelerator. Our role as jury members gives us a comprehensive knowledge of requirements, application procedures, and evaluation criteria, enabling us to guide you in crafting a robust application that significantly improves your prospects of securing the funding you need.</a:t>
            </a:r>
            <a:endParaRPr lang="es-ES" sz="1600" b="1" dirty="0">
              <a:latin typeface="Century Gothic" panose="020B0502020202020204" pitchFamily="34" charset="0"/>
            </a:endParaRPr>
          </a:p>
        </p:txBody>
      </p:sp>
      <p:cxnSp>
        <p:nvCxnSpPr>
          <p:cNvPr id="4" name="Conector recto 3">
            <a:extLst>
              <a:ext uri="{FF2B5EF4-FFF2-40B4-BE49-F238E27FC236}">
                <a16:creationId xmlns:a16="http://schemas.microsoft.com/office/drawing/2014/main" id="{257ACA7C-B402-C1EA-0853-54C7B25BE732}"/>
              </a:ext>
            </a:extLst>
          </p:cNvPr>
          <p:cNvCxnSpPr>
            <a:cxnSpLocks/>
          </p:cNvCxnSpPr>
          <p:nvPr/>
        </p:nvCxnSpPr>
        <p:spPr>
          <a:xfrm>
            <a:off x="728818" y="2634930"/>
            <a:ext cx="1665247" cy="0"/>
          </a:xfrm>
          <a:prstGeom prst="line">
            <a:avLst/>
          </a:prstGeom>
          <a:ln w="38100">
            <a:solidFill>
              <a:srgbClr val="142542"/>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04615EF-DD47-E943-CC6E-2B5A8D41F6E3}"/>
              </a:ext>
            </a:extLst>
          </p:cNvPr>
          <p:cNvSpPr txBox="1"/>
          <p:nvPr/>
        </p:nvSpPr>
        <p:spPr>
          <a:xfrm>
            <a:off x="644857" y="854465"/>
            <a:ext cx="5568286" cy="523220"/>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WHY SILICON CAPITAL?</a:t>
            </a:r>
          </a:p>
        </p:txBody>
      </p:sp>
      <p:sp>
        <p:nvSpPr>
          <p:cNvPr id="9" name="CuadroTexto 8">
            <a:extLst>
              <a:ext uri="{FF2B5EF4-FFF2-40B4-BE49-F238E27FC236}">
                <a16:creationId xmlns:a16="http://schemas.microsoft.com/office/drawing/2014/main" id="{D21B7CCF-BBCE-39CE-F2A8-65939655AD44}"/>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C5742DF8-1D40-B55B-B60A-A9CF047BF8FB}"/>
              </a:ext>
            </a:extLst>
          </p:cNvPr>
          <p:cNvSpPr>
            <a:spLocks noGrp="1"/>
          </p:cNvSpPr>
          <p:nvPr>
            <p:ph type="sldNum" sz="quarter" idx="12"/>
          </p:nvPr>
        </p:nvSpPr>
        <p:spPr/>
        <p:txBody>
          <a:bodyPr/>
          <a:lstStyle/>
          <a:p>
            <a:fld id="{0425F90D-6CCB-471F-89CD-46DB18BC9278}" type="slidenum">
              <a:rPr lang="en-US" smtClean="0"/>
              <a:t>4</a:t>
            </a:fld>
            <a:endParaRPr lang="en-US"/>
          </a:p>
        </p:txBody>
      </p:sp>
      <p:sp>
        <p:nvSpPr>
          <p:cNvPr id="8" name="CuadroTexto 7">
            <a:extLst>
              <a:ext uri="{FF2B5EF4-FFF2-40B4-BE49-F238E27FC236}">
                <a16:creationId xmlns:a16="http://schemas.microsoft.com/office/drawing/2014/main" id="{1EE92E64-669D-ED3C-FE14-883A605AE022}"/>
              </a:ext>
            </a:extLst>
          </p:cNvPr>
          <p:cNvSpPr txBox="1"/>
          <p:nvPr/>
        </p:nvSpPr>
        <p:spPr>
          <a:xfrm>
            <a:off x="1498500" y="2098617"/>
            <a:ext cx="4705496" cy="471796"/>
          </a:xfrm>
          <a:prstGeom prst="rect">
            <a:avLst/>
          </a:prstGeom>
          <a:noFill/>
        </p:spPr>
        <p:txBody>
          <a:bodyPr wrap="square">
            <a:spAutoFit/>
          </a:bodyPr>
          <a:lstStyle/>
          <a:p>
            <a:pPr>
              <a:lnSpc>
                <a:spcPct val="107000"/>
              </a:lnSpc>
              <a:spcAft>
                <a:spcPts val="800"/>
              </a:spcAft>
            </a:pPr>
            <a:r>
              <a:rPr lang="en-US" sz="1200" b="1" dirty="0">
                <a:solidFill>
                  <a:srgbClr val="203864"/>
                </a:solidFill>
                <a:latin typeface="Century Gothic" panose="020B0502020202020204" pitchFamily="34" charset="0"/>
              </a:rPr>
              <a:t>With our extensive experience and knowledge of the EIC Accelerator program</a:t>
            </a:r>
            <a:endParaRPr lang="es-ES" sz="1200" b="1" dirty="0">
              <a:solidFill>
                <a:srgbClr val="203864"/>
              </a:solidFill>
              <a:latin typeface="Century Gothic" panose="020B0502020202020204" pitchFamily="34" charset="0"/>
            </a:endParaRPr>
          </a:p>
        </p:txBody>
      </p:sp>
      <p:sp>
        <p:nvSpPr>
          <p:cNvPr id="16" name="CuadroTexto 15">
            <a:extLst>
              <a:ext uri="{FF2B5EF4-FFF2-40B4-BE49-F238E27FC236}">
                <a16:creationId xmlns:a16="http://schemas.microsoft.com/office/drawing/2014/main" id="{74D878CC-6771-5109-D060-3E7209620DDB}"/>
              </a:ext>
            </a:extLst>
          </p:cNvPr>
          <p:cNvSpPr txBox="1"/>
          <p:nvPr/>
        </p:nvSpPr>
        <p:spPr>
          <a:xfrm>
            <a:off x="837639" y="4110927"/>
            <a:ext cx="5375504" cy="440633"/>
          </a:xfrm>
          <a:prstGeom prst="rect">
            <a:avLst/>
          </a:prstGeom>
          <a:noFill/>
        </p:spPr>
        <p:txBody>
          <a:bodyPr wrap="square">
            <a:spAutoFit/>
          </a:bodyPr>
          <a:lstStyle/>
          <a:p>
            <a:pPr marL="171450" indent="-171450" algn="just">
              <a:lnSpc>
                <a:spcPct val="107000"/>
              </a:lnSpc>
              <a:spcAft>
                <a:spcPts val="800"/>
              </a:spcAft>
              <a:buFont typeface="Arial" panose="020B0604020202020204" pitchFamily="34" charset="0"/>
              <a:buChar char="•"/>
            </a:pPr>
            <a:r>
              <a:rPr lang="en-US" sz="1100" dirty="0">
                <a:solidFill>
                  <a:srgbClr val="142542"/>
                </a:solidFill>
                <a:latin typeface="Century Gothic" panose="020B0502020202020204" pitchFamily="34" charset="0"/>
              </a:rPr>
              <a:t>Did you know that evaluators look at LinkedIn profiles to verify the team's exclusive dedication? A profile with two 'current' positions is a </a:t>
            </a:r>
            <a:r>
              <a:rPr lang="en-US" sz="1100" b="1" dirty="0">
                <a:solidFill>
                  <a:srgbClr val="142542"/>
                </a:solidFill>
                <a:latin typeface="Century Gothic" panose="020B0502020202020204" pitchFamily="34" charset="0"/>
              </a:rPr>
              <a:t>NO GO</a:t>
            </a:r>
            <a:r>
              <a:rPr lang="en-US" sz="1100" dirty="0">
                <a:solidFill>
                  <a:srgbClr val="142542"/>
                </a:solidFill>
                <a:latin typeface="Century Gothic" panose="020B0502020202020204" pitchFamily="34" charset="0"/>
              </a:rPr>
              <a:t>.</a:t>
            </a:r>
            <a:endParaRPr lang="es-ES" sz="1100" dirty="0">
              <a:solidFill>
                <a:srgbClr val="142542"/>
              </a:solidFill>
              <a:latin typeface="Century Gothic" panose="020B0502020202020204" pitchFamily="34" charset="0"/>
            </a:endParaRPr>
          </a:p>
        </p:txBody>
      </p:sp>
      <p:sp>
        <p:nvSpPr>
          <p:cNvPr id="17" name="CuadroTexto 16">
            <a:extLst>
              <a:ext uri="{FF2B5EF4-FFF2-40B4-BE49-F238E27FC236}">
                <a16:creationId xmlns:a16="http://schemas.microsoft.com/office/drawing/2014/main" id="{42052E0F-D597-D024-F7FA-FE6E72A9BE58}"/>
              </a:ext>
            </a:extLst>
          </p:cNvPr>
          <p:cNvSpPr txBox="1"/>
          <p:nvPr/>
        </p:nvSpPr>
        <p:spPr>
          <a:xfrm>
            <a:off x="838165" y="4608008"/>
            <a:ext cx="5288315" cy="621645"/>
          </a:xfrm>
          <a:prstGeom prst="rect">
            <a:avLst/>
          </a:prstGeom>
          <a:noFill/>
        </p:spPr>
        <p:txBody>
          <a:bodyPr wrap="square">
            <a:spAutoFit/>
          </a:bodyPr>
          <a:lstStyle/>
          <a:p>
            <a:pPr marL="171450" indent="-171450" algn="just">
              <a:lnSpc>
                <a:spcPct val="107000"/>
              </a:lnSpc>
              <a:spcAft>
                <a:spcPts val="800"/>
              </a:spcAft>
              <a:buFont typeface="Arial" panose="020B0604020202020204" pitchFamily="34" charset="0"/>
              <a:buChar char="•"/>
            </a:pPr>
            <a:r>
              <a:rPr lang="en-US" sz="1100" dirty="0">
                <a:solidFill>
                  <a:srgbClr val="142542"/>
                </a:solidFill>
                <a:latin typeface="Century Gothic" panose="020B0502020202020204" pitchFamily="34" charset="0"/>
              </a:rPr>
              <a:t>Did you know that if your company projects sales below €30 million in the next five years, the jury will perceive the company as non-disruptive? </a:t>
            </a:r>
            <a:br>
              <a:rPr lang="en-US" sz="1100" dirty="0">
                <a:solidFill>
                  <a:srgbClr val="142542"/>
                </a:solidFill>
                <a:latin typeface="Century Gothic" panose="020B0502020202020204" pitchFamily="34" charset="0"/>
              </a:rPr>
            </a:br>
            <a:r>
              <a:rPr lang="en-US" sz="1100" b="1" dirty="0">
                <a:solidFill>
                  <a:srgbClr val="142542"/>
                </a:solidFill>
                <a:latin typeface="Century Gothic" panose="020B0502020202020204" pitchFamily="34" charset="0"/>
              </a:rPr>
              <a:t>NO GO</a:t>
            </a:r>
            <a:r>
              <a:rPr lang="en-US" sz="1100" dirty="0">
                <a:solidFill>
                  <a:srgbClr val="142542"/>
                </a:solidFill>
                <a:latin typeface="Century Gothic" panose="020B0502020202020204" pitchFamily="34" charset="0"/>
              </a:rPr>
              <a:t>.</a:t>
            </a:r>
            <a:endParaRPr lang="es-ES" sz="1100" dirty="0">
              <a:solidFill>
                <a:srgbClr val="142542"/>
              </a:solidFill>
              <a:latin typeface="Century Gothic" panose="020B0502020202020204" pitchFamily="34" charset="0"/>
            </a:endParaRPr>
          </a:p>
        </p:txBody>
      </p:sp>
      <p:sp>
        <p:nvSpPr>
          <p:cNvPr id="19" name="CuadroTexto 18">
            <a:extLst>
              <a:ext uri="{FF2B5EF4-FFF2-40B4-BE49-F238E27FC236}">
                <a16:creationId xmlns:a16="http://schemas.microsoft.com/office/drawing/2014/main" id="{136D5F50-C0D6-61EA-42C8-E1D16B00BED3}"/>
              </a:ext>
            </a:extLst>
          </p:cNvPr>
          <p:cNvSpPr txBox="1"/>
          <p:nvPr/>
        </p:nvSpPr>
        <p:spPr>
          <a:xfrm>
            <a:off x="654004" y="5938407"/>
            <a:ext cx="5568286" cy="1465466"/>
          </a:xfrm>
          <a:prstGeom prst="rect">
            <a:avLst/>
          </a:prstGeom>
          <a:noFill/>
        </p:spPr>
        <p:txBody>
          <a:bodyPr wrap="square" rtlCol="0">
            <a:spAutoFit/>
          </a:bodyPr>
          <a:lstStyle/>
          <a:p>
            <a:pPr algn="just">
              <a:lnSpc>
                <a:spcPct val="107000"/>
              </a:lnSpc>
              <a:spcAft>
                <a:spcPts val="800"/>
              </a:spcAft>
            </a:pPr>
            <a:r>
              <a:rPr lang="en-US" sz="1200" dirty="0">
                <a:solidFill>
                  <a:srgbClr val="374151"/>
                </a:solidFill>
                <a:latin typeface="Century Gothic" panose="020B0502020202020204" pitchFamily="34" charset="0"/>
              </a:rPr>
              <a:t>At Silicon Capital, we significantly enhance a company's funding success with our complimentary preliminary evaluation, enabling us to provide realistic success estimates. This evaluation is the cornerstone of our client selection process and supports our business model, primarily based on a success fee tied to the funding obtained. It allows us to offer a low, non-profit-oriented fee, ensuring the establishment of a robust professional relationship from the outset of our journey together.</a:t>
            </a:r>
            <a:endParaRPr lang="es-ES" sz="1200" dirty="0">
              <a:solidFill>
                <a:srgbClr val="374151"/>
              </a:solidFill>
              <a:latin typeface="Century Gothic" panose="020B0502020202020204" pitchFamily="34" charset="0"/>
            </a:endParaRPr>
          </a:p>
        </p:txBody>
      </p:sp>
      <p:cxnSp>
        <p:nvCxnSpPr>
          <p:cNvPr id="20" name="Conector recto 19">
            <a:extLst>
              <a:ext uri="{FF2B5EF4-FFF2-40B4-BE49-F238E27FC236}">
                <a16:creationId xmlns:a16="http://schemas.microsoft.com/office/drawing/2014/main" id="{2D15DC33-CA55-0B80-4C88-C1C81B9BB109}"/>
              </a:ext>
            </a:extLst>
          </p:cNvPr>
          <p:cNvCxnSpPr>
            <a:cxnSpLocks/>
          </p:cNvCxnSpPr>
          <p:nvPr/>
        </p:nvCxnSpPr>
        <p:spPr>
          <a:xfrm>
            <a:off x="737965" y="5905809"/>
            <a:ext cx="1665247" cy="0"/>
          </a:xfrm>
          <a:prstGeom prst="line">
            <a:avLst/>
          </a:prstGeom>
          <a:ln w="38100">
            <a:solidFill>
              <a:srgbClr val="142542"/>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09E1583B-C785-7301-95B7-AD4369423DB7}"/>
              </a:ext>
            </a:extLst>
          </p:cNvPr>
          <p:cNvSpPr txBox="1"/>
          <p:nvPr/>
        </p:nvSpPr>
        <p:spPr>
          <a:xfrm>
            <a:off x="1507647" y="5369496"/>
            <a:ext cx="4705496" cy="471796"/>
          </a:xfrm>
          <a:prstGeom prst="rect">
            <a:avLst/>
          </a:prstGeom>
          <a:noFill/>
        </p:spPr>
        <p:txBody>
          <a:bodyPr wrap="square">
            <a:spAutoFit/>
          </a:bodyPr>
          <a:lstStyle/>
          <a:p>
            <a:pPr>
              <a:lnSpc>
                <a:spcPct val="107000"/>
              </a:lnSpc>
              <a:spcAft>
                <a:spcPts val="800"/>
              </a:spcAft>
            </a:pPr>
            <a:r>
              <a:rPr lang="es-ES" sz="1200" b="1" dirty="0">
                <a:solidFill>
                  <a:srgbClr val="203864"/>
                </a:solidFill>
                <a:latin typeface="Century Gothic" panose="020B0502020202020204" pitchFamily="34" charset="0"/>
              </a:rPr>
              <a:t>With </a:t>
            </a:r>
            <a:r>
              <a:rPr lang="es-ES" sz="1200" b="1" dirty="0" err="1">
                <a:solidFill>
                  <a:srgbClr val="203864"/>
                </a:solidFill>
                <a:latin typeface="Century Gothic" panose="020B0502020202020204" pitchFamily="34" charset="0"/>
              </a:rPr>
              <a:t>our</a:t>
            </a:r>
            <a:r>
              <a:rPr lang="es-ES" sz="1200" b="1" dirty="0">
                <a:solidFill>
                  <a:srgbClr val="203864"/>
                </a:solidFill>
                <a:latin typeface="Century Gothic" panose="020B0502020202020204" pitchFamily="34" charset="0"/>
              </a:rPr>
              <a:t> </a:t>
            </a:r>
            <a:r>
              <a:rPr lang="es-ES" sz="1200" b="1" dirty="0" err="1">
                <a:solidFill>
                  <a:srgbClr val="203864"/>
                </a:solidFill>
                <a:latin typeface="Century Gothic" panose="020B0502020202020204" pitchFamily="34" charset="0"/>
              </a:rPr>
              <a:t>expertise</a:t>
            </a:r>
            <a:r>
              <a:rPr lang="es-ES" sz="1200" b="1" dirty="0">
                <a:solidFill>
                  <a:srgbClr val="203864"/>
                </a:solidFill>
                <a:latin typeface="Century Gothic" panose="020B0502020202020204" pitchFamily="34" charset="0"/>
              </a:rPr>
              <a:t> in </a:t>
            </a:r>
            <a:r>
              <a:rPr lang="es-ES" sz="1200" b="1" dirty="0" err="1">
                <a:solidFill>
                  <a:srgbClr val="203864"/>
                </a:solidFill>
                <a:latin typeface="Century Gothic" panose="020B0502020202020204" pitchFamily="34" charset="0"/>
              </a:rPr>
              <a:t>evaluating</a:t>
            </a:r>
            <a:r>
              <a:rPr lang="es-ES" sz="1200" b="1" dirty="0">
                <a:solidFill>
                  <a:srgbClr val="203864"/>
                </a:solidFill>
                <a:latin typeface="Century Gothic" panose="020B0502020202020204" pitchFamily="34" charset="0"/>
              </a:rPr>
              <a:t> the </a:t>
            </a:r>
            <a:r>
              <a:rPr lang="es-ES" sz="1200" b="1" dirty="0" err="1">
                <a:solidFill>
                  <a:srgbClr val="203864"/>
                </a:solidFill>
                <a:latin typeface="Century Gothic" panose="020B0502020202020204" pitchFamily="34" charset="0"/>
              </a:rPr>
              <a:t>company´s</a:t>
            </a:r>
            <a:r>
              <a:rPr lang="es-ES" sz="1200" b="1" dirty="0">
                <a:solidFill>
                  <a:srgbClr val="203864"/>
                </a:solidFill>
                <a:latin typeface="Century Gothic" panose="020B0502020202020204" pitchFamily="34" charset="0"/>
              </a:rPr>
              <a:t> </a:t>
            </a:r>
            <a:r>
              <a:rPr lang="es-ES" sz="1200" b="1" dirty="0" err="1">
                <a:solidFill>
                  <a:srgbClr val="203864"/>
                </a:solidFill>
                <a:latin typeface="Century Gothic" panose="020B0502020202020204" pitchFamily="34" charset="0"/>
              </a:rPr>
              <a:t>potential</a:t>
            </a:r>
            <a:r>
              <a:rPr lang="es-ES" sz="1200" b="1" dirty="0">
                <a:solidFill>
                  <a:srgbClr val="203864"/>
                </a:solidFill>
                <a:latin typeface="Century Gothic" panose="020B0502020202020204" pitchFamily="34" charset="0"/>
              </a:rPr>
              <a:t> for </a:t>
            </a:r>
            <a:r>
              <a:rPr lang="es-ES" sz="1200" b="1" dirty="0" err="1">
                <a:solidFill>
                  <a:srgbClr val="203864"/>
                </a:solidFill>
                <a:latin typeface="Century Gothic" panose="020B0502020202020204" pitchFamily="34" charset="0"/>
              </a:rPr>
              <a:t>funding</a:t>
            </a:r>
            <a:r>
              <a:rPr lang="es-ES" sz="1200" b="1" dirty="0">
                <a:solidFill>
                  <a:srgbClr val="203864"/>
                </a:solidFill>
                <a:latin typeface="Century Gothic" panose="020B0502020202020204" pitchFamily="34" charset="0"/>
              </a:rPr>
              <a:t> </a:t>
            </a:r>
            <a:r>
              <a:rPr lang="es-ES" sz="1200" b="1" dirty="0" err="1">
                <a:solidFill>
                  <a:srgbClr val="203864"/>
                </a:solidFill>
                <a:latin typeface="Century Gothic" panose="020B0502020202020204" pitchFamily="34" charset="0"/>
              </a:rPr>
              <a:t>success</a:t>
            </a:r>
            <a:r>
              <a:rPr lang="es-ES" sz="1200" b="1" dirty="0">
                <a:solidFill>
                  <a:srgbClr val="203864"/>
                </a:solidFill>
                <a:latin typeface="Century Gothic" panose="020B0502020202020204" pitchFamily="34" charset="0"/>
              </a:rPr>
              <a:t>.</a:t>
            </a:r>
            <a:endParaRPr lang="en-US" sz="1200" b="1" dirty="0">
              <a:solidFill>
                <a:srgbClr val="203864"/>
              </a:solidFill>
              <a:latin typeface="Century Gothic" panose="020B0502020202020204" pitchFamily="34" charset="0"/>
            </a:endParaRPr>
          </a:p>
        </p:txBody>
      </p:sp>
      <p:sp>
        <p:nvSpPr>
          <p:cNvPr id="22" name="CuadroTexto 21">
            <a:extLst>
              <a:ext uri="{FF2B5EF4-FFF2-40B4-BE49-F238E27FC236}">
                <a16:creationId xmlns:a16="http://schemas.microsoft.com/office/drawing/2014/main" id="{00702621-63BA-5097-FC6D-09EFACE07E91}"/>
              </a:ext>
            </a:extLst>
          </p:cNvPr>
          <p:cNvSpPr txBox="1"/>
          <p:nvPr/>
        </p:nvSpPr>
        <p:spPr>
          <a:xfrm>
            <a:off x="644857" y="3868790"/>
            <a:ext cx="5343008" cy="259495"/>
          </a:xfrm>
          <a:prstGeom prst="rect">
            <a:avLst/>
          </a:prstGeom>
          <a:noFill/>
        </p:spPr>
        <p:txBody>
          <a:bodyPr wrap="square">
            <a:spAutoFit/>
          </a:bodyPr>
          <a:lstStyle/>
          <a:p>
            <a:pPr>
              <a:lnSpc>
                <a:spcPct val="107000"/>
              </a:lnSpc>
              <a:spcAft>
                <a:spcPts val="800"/>
              </a:spcAft>
            </a:pPr>
            <a:r>
              <a:rPr lang="es-ES" sz="1100" b="1" dirty="0">
                <a:solidFill>
                  <a:srgbClr val="142542"/>
                </a:solidFill>
                <a:latin typeface="Century Gothic" panose="020B0502020202020204" pitchFamily="34" charset="0"/>
              </a:rPr>
              <a:t>For </a:t>
            </a:r>
            <a:r>
              <a:rPr lang="es-ES" sz="1100" b="1" dirty="0" err="1">
                <a:solidFill>
                  <a:srgbClr val="142542"/>
                </a:solidFill>
                <a:latin typeface="Century Gothic" panose="020B0502020202020204" pitchFamily="34" charset="0"/>
              </a:rPr>
              <a:t>example</a:t>
            </a:r>
            <a:r>
              <a:rPr lang="es-ES" sz="1100" b="1" dirty="0">
                <a:solidFill>
                  <a:srgbClr val="142542"/>
                </a:solidFill>
                <a:latin typeface="Century Gothic" panose="020B0502020202020204" pitchFamily="34" charset="0"/>
              </a:rPr>
              <a:t>:</a:t>
            </a:r>
          </a:p>
        </p:txBody>
      </p:sp>
      <p:sp>
        <p:nvSpPr>
          <p:cNvPr id="23" name="CuadroTexto 22">
            <a:extLst>
              <a:ext uri="{FF2B5EF4-FFF2-40B4-BE49-F238E27FC236}">
                <a16:creationId xmlns:a16="http://schemas.microsoft.com/office/drawing/2014/main" id="{CAC7C4F5-BB52-B737-FD1A-99667DF581F2}"/>
              </a:ext>
            </a:extLst>
          </p:cNvPr>
          <p:cNvSpPr txBox="1"/>
          <p:nvPr/>
        </p:nvSpPr>
        <p:spPr>
          <a:xfrm>
            <a:off x="944948" y="8508836"/>
            <a:ext cx="849484" cy="471796"/>
          </a:xfrm>
          <a:prstGeom prst="rect">
            <a:avLst/>
          </a:prstGeom>
          <a:noFill/>
        </p:spPr>
        <p:txBody>
          <a:bodyPr wrap="square">
            <a:spAutoFit/>
          </a:bodyPr>
          <a:lstStyle/>
          <a:p>
            <a:pPr algn="ctr">
              <a:lnSpc>
                <a:spcPct val="107000"/>
              </a:lnSpc>
            </a:pPr>
            <a:r>
              <a:rPr lang="es-ES" sz="1200" dirty="0" err="1">
                <a:solidFill>
                  <a:schemeClr val="tx1">
                    <a:lumMod val="85000"/>
                    <a:lumOff val="15000"/>
                  </a:schemeClr>
                </a:solidFill>
                <a:latin typeface="Century Gothic" panose="020B0502020202020204" pitchFamily="34" charset="0"/>
              </a:rPr>
              <a:t>Boosting</a:t>
            </a:r>
            <a:r>
              <a:rPr lang="es-ES" sz="1200" dirty="0">
                <a:solidFill>
                  <a:schemeClr val="tx1">
                    <a:lumMod val="85000"/>
                    <a:lumOff val="15000"/>
                  </a:schemeClr>
                </a:solidFill>
                <a:latin typeface="Century Gothic" panose="020B0502020202020204" pitchFamily="34" charset="0"/>
              </a:rPr>
              <a:t> </a:t>
            </a:r>
          </a:p>
          <a:p>
            <a:pPr algn="ctr">
              <a:lnSpc>
                <a:spcPct val="107000"/>
              </a:lnSpc>
            </a:pPr>
            <a:r>
              <a:rPr lang="es-ES" sz="1200" dirty="0" err="1">
                <a:solidFill>
                  <a:schemeClr val="tx1">
                    <a:lumMod val="85000"/>
                    <a:lumOff val="15000"/>
                  </a:schemeClr>
                </a:solidFill>
                <a:latin typeface="Century Gothic" panose="020B0502020202020204" pitchFamily="34" charset="0"/>
              </a:rPr>
              <a:t>Success</a:t>
            </a:r>
            <a:endParaRPr lang="en-US" sz="1200" dirty="0">
              <a:solidFill>
                <a:schemeClr val="tx1">
                  <a:lumMod val="85000"/>
                  <a:lumOff val="15000"/>
                </a:schemeClr>
              </a:solidFill>
              <a:latin typeface="Century Gothic" panose="020B0502020202020204" pitchFamily="34" charset="0"/>
            </a:endParaRPr>
          </a:p>
        </p:txBody>
      </p:sp>
      <p:sp>
        <p:nvSpPr>
          <p:cNvPr id="24" name="CuadroTexto 23">
            <a:extLst>
              <a:ext uri="{FF2B5EF4-FFF2-40B4-BE49-F238E27FC236}">
                <a16:creationId xmlns:a16="http://schemas.microsoft.com/office/drawing/2014/main" id="{411F65FC-3DBB-C5B7-A742-E0B8D275E815}"/>
              </a:ext>
            </a:extLst>
          </p:cNvPr>
          <p:cNvSpPr txBox="1"/>
          <p:nvPr/>
        </p:nvSpPr>
        <p:spPr>
          <a:xfrm>
            <a:off x="1873406" y="8508836"/>
            <a:ext cx="1127488" cy="471796"/>
          </a:xfrm>
          <a:prstGeom prst="rect">
            <a:avLst/>
          </a:prstGeom>
          <a:noFill/>
        </p:spPr>
        <p:txBody>
          <a:bodyPr wrap="square">
            <a:spAutoFit/>
          </a:bodyPr>
          <a:lstStyle/>
          <a:p>
            <a:pPr algn="ctr">
              <a:lnSpc>
                <a:spcPct val="107000"/>
              </a:lnSpc>
            </a:pPr>
            <a:r>
              <a:rPr lang="es-ES" sz="1200" dirty="0">
                <a:solidFill>
                  <a:schemeClr val="tx1">
                    <a:lumMod val="85000"/>
                    <a:lumOff val="15000"/>
                  </a:schemeClr>
                </a:solidFill>
                <a:latin typeface="Century Gothic" panose="020B0502020202020204" pitchFamily="34" charset="0"/>
              </a:rPr>
              <a:t>Network </a:t>
            </a:r>
          </a:p>
          <a:p>
            <a:pPr algn="ctr">
              <a:lnSpc>
                <a:spcPct val="107000"/>
              </a:lnSpc>
            </a:pPr>
            <a:endParaRPr lang="en-US" sz="1200" dirty="0">
              <a:solidFill>
                <a:schemeClr val="tx1">
                  <a:lumMod val="85000"/>
                  <a:lumOff val="15000"/>
                </a:schemeClr>
              </a:solidFill>
              <a:latin typeface="Century Gothic" panose="020B0502020202020204" pitchFamily="34" charset="0"/>
            </a:endParaRPr>
          </a:p>
        </p:txBody>
      </p:sp>
      <p:sp>
        <p:nvSpPr>
          <p:cNvPr id="25" name="CuadroTexto 24">
            <a:extLst>
              <a:ext uri="{FF2B5EF4-FFF2-40B4-BE49-F238E27FC236}">
                <a16:creationId xmlns:a16="http://schemas.microsoft.com/office/drawing/2014/main" id="{E339DC01-DE77-DE6A-81A2-96C1E921397D}"/>
              </a:ext>
            </a:extLst>
          </p:cNvPr>
          <p:cNvSpPr txBox="1"/>
          <p:nvPr/>
        </p:nvSpPr>
        <p:spPr>
          <a:xfrm>
            <a:off x="2900029" y="8519941"/>
            <a:ext cx="1127488" cy="471796"/>
          </a:xfrm>
          <a:prstGeom prst="rect">
            <a:avLst/>
          </a:prstGeom>
          <a:noFill/>
        </p:spPr>
        <p:txBody>
          <a:bodyPr wrap="square">
            <a:spAutoFit/>
          </a:bodyPr>
          <a:lstStyle/>
          <a:p>
            <a:pPr algn="ctr">
              <a:lnSpc>
                <a:spcPct val="107000"/>
              </a:lnSpc>
            </a:pPr>
            <a:r>
              <a:rPr lang="es-ES" sz="1200" dirty="0">
                <a:solidFill>
                  <a:schemeClr val="tx1">
                    <a:lumMod val="85000"/>
                    <a:lumOff val="15000"/>
                  </a:schemeClr>
                </a:solidFill>
                <a:latin typeface="Century Gothic" panose="020B0502020202020204" pitchFamily="34" charset="0"/>
              </a:rPr>
              <a:t>Free</a:t>
            </a:r>
          </a:p>
          <a:p>
            <a:pPr algn="ctr">
              <a:lnSpc>
                <a:spcPct val="107000"/>
              </a:lnSpc>
            </a:pPr>
            <a:r>
              <a:rPr lang="es-ES" sz="1200" dirty="0" err="1">
                <a:solidFill>
                  <a:schemeClr val="tx1">
                    <a:lumMod val="85000"/>
                    <a:lumOff val="15000"/>
                  </a:schemeClr>
                </a:solidFill>
                <a:latin typeface="Century Gothic" panose="020B0502020202020204" pitchFamily="34" charset="0"/>
              </a:rPr>
              <a:t>Consulting</a:t>
            </a:r>
            <a:endParaRPr lang="en-US" sz="1200" dirty="0">
              <a:solidFill>
                <a:schemeClr val="tx1">
                  <a:lumMod val="85000"/>
                  <a:lumOff val="15000"/>
                </a:schemeClr>
              </a:solidFill>
              <a:latin typeface="Century Gothic" panose="020B0502020202020204" pitchFamily="34" charset="0"/>
            </a:endParaRPr>
          </a:p>
        </p:txBody>
      </p:sp>
      <p:sp>
        <p:nvSpPr>
          <p:cNvPr id="26" name="CuadroTexto 25">
            <a:extLst>
              <a:ext uri="{FF2B5EF4-FFF2-40B4-BE49-F238E27FC236}">
                <a16:creationId xmlns:a16="http://schemas.microsoft.com/office/drawing/2014/main" id="{4BBE1852-6FBF-9F22-3E98-8132727C18E1}"/>
              </a:ext>
            </a:extLst>
          </p:cNvPr>
          <p:cNvSpPr txBox="1"/>
          <p:nvPr/>
        </p:nvSpPr>
        <p:spPr>
          <a:xfrm>
            <a:off x="3893400" y="8514401"/>
            <a:ext cx="1259105" cy="471796"/>
          </a:xfrm>
          <a:prstGeom prst="rect">
            <a:avLst/>
          </a:prstGeom>
          <a:noFill/>
        </p:spPr>
        <p:txBody>
          <a:bodyPr wrap="square">
            <a:spAutoFit/>
          </a:bodyPr>
          <a:lstStyle/>
          <a:p>
            <a:pPr algn="ctr">
              <a:lnSpc>
                <a:spcPct val="107000"/>
              </a:lnSpc>
            </a:pPr>
            <a:r>
              <a:rPr lang="es-ES" sz="1200" dirty="0">
                <a:solidFill>
                  <a:schemeClr val="tx1">
                    <a:lumMod val="85000"/>
                    <a:lumOff val="15000"/>
                  </a:schemeClr>
                </a:solidFill>
                <a:latin typeface="Century Gothic" panose="020B0502020202020204" pitchFamily="34" charset="0"/>
              </a:rPr>
              <a:t>EIC</a:t>
            </a:r>
          </a:p>
          <a:p>
            <a:pPr algn="ctr">
              <a:lnSpc>
                <a:spcPct val="107000"/>
              </a:lnSpc>
            </a:pPr>
            <a:r>
              <a:rPr lang="es-ES" sz="1200" dirty="0">
                <a:solidFill>
                  <a:schemeClr val="tx1">
                    <a:lumMod val="85000"/>
                    <a:lumOff val="15000"/>
                  </a:schemeClr>
                </a:solidFill>
                <a:latin typeface="Century Gothic" panose="020B0502020202020204" pitchFamily="34" charset="0"/>
              </a:rPr>
              <a:t>High Expertise</a:t>
            </a:r>
            <a:endParaRPr lang="en-US" sz="1200" dirty="0">
              <a:solidFill>
                <a:schemeClr val="tx1">
                  <a:lumMod val="85000"/>
                  <a:lumOff val="15000"/>
                </a:schemeClr>
              </a:solidFill>
              <a:latin typeface="Century Gothic" panose="020B0502020202020204" pitchFamily="34" charset="0"/>
            </a:endParaRPr>
          </a:p>
        </p:txBody>
      </p:sp>
      <p:sp>
        <p:nvSpPr>
          <p:cNvPr id="27" name="CuadroTexto 26">
            <a:extLst>
              <a:ext uri="{FF2B5EF4-FFF2-40B4-BE49-F238E27FC236}">
                <a16:creationId xmlns:a16="http://schemas.microsoft.com/office/drawing/2014/main" id="{99E31667-EE84-1E96-8632-191F15379D8B}"/>
              </a:ext>
            </a:extLst>
          </p:cNvPr>
          <p:cNvSpPr txBox="1"/>
          <p:nvPr/>
        </p:nvSpPr>
        <p:spPr>
          <a:xfrm>
            <a:off x="5059953" y="8517171"/>
            <a:ext cx="1259105" cy="471796"/>
          </a:xfrm>
          <a:prstGeom prst="rect">
            <a:avLst/>
          </a:prstGeom>
          <a:noFill/>
        </p:spPr>
        <p:txBody>
          <a:bodyPr wrap="square">
            <a:spAutoFit/>
          </a:bodyPr>
          <a:lstStyle/>
          <a:p>
            <a:pPr algn="ctr">
              <a:lnSpc>
                <a:spcPct val="107000"/>
              </a:lnSpc>
            </a:pPr>
            <a:r>
              <a:rPr lang="es-ES" sz="1200" dirty="0" err="1">
                <a:solidFill>
                  <a:schemeClr val="tx1">
                    <a:lumMod val="85000"/>
                    <a:lumOff val="15000"/>
                  </a:schemeClr>
                </a:solidFill>
                <a:latin typeface="Century Gothic" panose="020B0502020202020204" pitchFamily="34" charset="0"/>
              </a:rPr>
              <a:t>Fair</a:t>
            </a:r>
            <a:endParaRPr lang="es-ES" sz="1200" dirty="0">
              <a:solidFill>
                <a:schemeClr val="tx1">
                  <a:lumMod val="85000"/>
                  <a:lumOff val="15000"/>
                </a:schemeClr>
              </a:solidFill>
              <a:latin typeface="Century Gothic" panose="020B0502020202020204" pitchFamily="34" charset="0"/>
            </a:endParaRPr>
          </a:p>
          <a:p>
            <a:pPr algn="ctr">
              <a:lnSpc>
                <a:spcPct val="107000"/>
              </a:lnSpc>
            </a:pPr>
            <a:r>
              <a:rPr lang="es-ES" sz="1200" dirty="0">
                <a:solidFill>
                  <a:schemeClr val="tx1">
                    <a:lumMod val="85000"/>
                    <a:lumOff val="15000"/>
                  </a:schemeClr>
                </a:solidFill>
                <a:latin typeface="Century Gothic" panose="020B0502020202020204" pitchFamily="34" charset="0"/>
              </a:rPr>
              <a:t>Fees</a:t>
            </a:r>
            <a:endParaRPr lang="en-US" sz="1200" dirty="0">
              <a:solidFill>
                <a:schemeClr val="tx1">
                  <a:lumMod val="85000"/>
                  <a:lumOff val="15000"/>
                </a:schemeClr>
              </a:solidFill>
              <a:latin typeface="Century Gothic" panose="020B0502020202020204" pitchFamily="34" charset="0"/>
            </a:endParaRPr>
          </a:p>
        </p:txBody>
      </p:sp>
      <p:sp>
        <p:nvSpPr>
          <p:cNvPr id="28" name="CuadroTexto 27">
            <a:extLst>
              <a:ext uri="{FF2B5EF4-FFF2-40B4-BE49-F238E27FC236}">
                <a16:creationId xmlns:a16="http://schemas.microsoft.com/office/drawing/2014/main" id="{7B803BB0-0EB2-F1EF-1CF5-404C75A2C3A2}"/>
              </a:ext>
            </a:extLst>
          </p:cNvPr>
          <p:cNvSpPr txBox="1"/>
          <p:nvPr/>
        </p:nvSpPr>
        <p:spPr>
          <a:xfrm>
            <a:off x="870134" y="7548207"/>
            <a:ext cx="4705496" cy="274178"/>
          </a:xfrm>
          <a:prstGeom prst="rect">
            <a:avLst/>
          </a:prstGeom>
          <a:noFill/>
        </p:spPr>
        <p:txBody>
          <a:bodyPr wrap="square">
            <a:spAutoFit/>
          </a:bodyPr>
          <a:lstStyle/>
          <a:p>
            <a:pPr>
              <a:lnSpc>
                <a:spcPct val="107000"/>
              </a:lnSpc>
              <a:spcAft>
                <a:spcPts val="800"/>
              </a:spcAft>
            </a:pPr>
            <a:r>
              <a:rPr lang="es-ES" sz="1200" b="1" dirty="0">
                <a:solidFill>
                  <a:schemeClr val="tx1">
                    <a:lumMod val="65000"/>
                    <a:lumOff val="35000"/>
                  </a:schemeClr>
                </a:solidFill>
                <a:latin typeface="Century Gothic" panose="020B0502020202020204" pitchFamily="34" charset="0"/>
              </a:rPr>
              <a:t>OUR VALUES</a:t>
            </a:r>
            <a:endParaRPr lang="en-US" sz="1200" b="1" dirty="0">
              <a:solidFill>
                <a:schemeClr val="tx1">
                  <a:lumMod val="65000"/>
                  <a:lumOff val="35000"/>
                </a:schemeClr>
              </a:solidFill>
              <a:latin typeface="Century Gothic" panose="020B0502020202020204" pitchFamily="34" charset="0"/>
            </a:endParaRPr>
          </a:p>
        </p:txBody>
      </p:sp>
      <p:pic>
        <p:nvPicPr>
          <p:cNvPr id="30" name="Gráfico 29" descr="Cohete con relleno sólido">
            <a:extLst>
              <a:ext uri="{FF2B5EF4-FFF2-40B4-BE49-F238E27FC236}">
                <a16:creationId xmlns:a16="http://schemas.microsoft.com/office/drawing/2014/main" id="{E54794C1-16AA-52D5-246B-9E12B4637A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639" y="2088496"/>
            <a:ext cx="527858" cy="527858"/>
          </a:xfrm>
          <a:prstGeom prst="rect">
            <a:avLst/>
          </a:prstGeom>
        </p:spPr>
      </p:pic>
      <p:pic>
        <p:nvPicPr>
          <p:cNvPr id="31" name="Gráfico 30" descr="Investigación con relleno sólido">
            <a:extLst>
              <a:ext uri="{FF2B5EF4-FFF2-40B4-BE49-F238E27FC236}">
                <a16:creationId xmlns:a16="http://schemas.microsoft.com/office/drawing/2014/main" id="{E0405024-FA44-5C70-5F4A-3ED06543C0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79204" y="5375072"/>
            <a:ext cx="527858" cy="527858"/>
          </a:xfrm>
          <a:prstGeom prst="rect">
            <a:avLst/>
          </a:prstGeom>
        </p:spPr>
      </p:pic>
      <p:pic>
        <p:nvPicPr>
          <p:cNvPr id="32" name="Gráfico 31" descr="Cohete con relleno sólido">
            <a:extLst>
              <a:ext uri="{FF2B5EF4-FFF2-40B4-BE49-F238E27FC236}">
                <a16:creationId xmlns:a16="http://schemas.microsoft.com/office/drawing/2014/main" id="{5A241FF1-86EC-D095-F149-68F32A2639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8103" y="8031580"/>
            <a:ext cx="527858" cy="527858"/>
          </a:xfrm>
          <a:prstGeom prst="rect">
            <a:avLst/>
          </a:prstGeom>
        </p:spPr>
      </p:pic>
      <p:pic>
        <p:nvPicPr>
          <p:cNvPr id="33" name="Gráfico 32" descr="Conexiones con relleno sólido">
            <a:extLst>
              <a:ext uri="{FF2B5EF4-FFF2-40B4-BE49-F238E27FC236}">
                <a16:creationId xmlns:a16="http://schemas.microsoft.com/office/drawing/2014/main" id="{6B387342-8FDA-1CF7-D31D-B60DDF10C4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2168508" y="8040400"/>
            <a:ext cx="527858" cy="527858"/>
          </a:xfrm>
          <a:prstGeom prst="rect">
            <a:avLst/>
          </a:prstGeom>
        </p:spPr>
      </p:pic>
      <p:pic>
        <p:nvPicPr>
          <p:cNvPr id="34" name="Gráfico 33" descr="Maestro con relleno sólido">
            <a:extLst>
              <a:ext uri="{FF2B5EF4-FFF2-40B4-BE49-F238E27FC236}">
                <a16:creationId xmlns:a16="http://schemas.microsoft.com/office/drawing/2014/main" id="{13D239D1-3A99-6B16-9DDA-B72E4E0B9B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3212305" y="8042663"/>
            <a:ext cx="527858" cy="527858"/>
          </a:xfrm>
          <a:prstGeom prst="rect">
            <a:avLst/>
          </a:prstGeom>
        </p:spPr>
      </p:pic>
      <p:pic>
        <p:nvPicPr>
          <p:cNvPr id="35" name="Gráfico 34" descr="Interfaz de la experiencia de usuario con relleno sólido">
            <a:extLst>
              <a:ext uri="{FF2B5EF4-FFF2-40B4-BE49-F238E27FC236}">
                <a16:creationId xmlns:a16="http://schemas.microsoft.com/office/drawing/2014/main" id="{9A45177C-86DD-D479-16A5-C5996A2E530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4282710" y="8051483"/>
            <a:ext cx="527858" cy="527858"/>
          </a:xfrm>
          <a:prstGeom prst="rect">
            <a:avLst/>
          </a:prstGeom>
        </p:spPr>
      </p:pic>
      <p:pic>
        <p:nvPicPr>
          <p:cNvPr id="36" name="Gráfico 35" descr="Sellos discográfico con relleno sólido">
            <a:extLst>
              <a:ext uri="{FF2B5EF4-FFF2-40B4-BE49-F238E27FC236}">
                <a16:creationId xmlns:a16="http://schemas.microsoft.com/office/drawing/2014/main" id="{39D54713-FDF8-FD15-9B3A-50373A65341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5420039" y="8054120"/>
            <a:ext cx="527858" cy="527858"/>
          </a:xfrm>
          <a:prstGeom prst="rect">
            <a:avLst/>
          </a:prstGeom>
        </p:spPr>
      </p:pic>
      <p:sp>
        <p:nvSpPr>
          <p:cNvPr id="6" name="CuadroTexto 5">
            <a:extLst>
              <a:ext uri="{FF2B5EF4-FFF2-40B4-BE49-F238E27FC236}">
                <a16:creationId xmlns:a16="http://schemas.microsoft.com/office/drawing/2014/main" id="{93F7FD95-32FB-D283-1604-80DDC0351C13}"/>
              </a:ext>
            </a:extLst>
          </p:cNvPr>
          <p:cNvSpPr txBox="1"/>
          <p:nvPr/>
        </p:nvSpPr>
        <p:spPr>
          <a:xfrm>
            <a:off x="654004" y="1268519"/>
            <a:ext cx="5549992" cy="364972"/>
          </a:xfrm>
          <a:prstGeom prst="rect">
            <a:avLst/>
          </a:prstGeom>
          <a:noFill/>
        </p:spPr>
        <p:txBody>
          <a:bodyPr wrap="square">
            <a:spAutoFit/>
          </a:bodyPr>
          <a:lstStyle/>
          <a:p>
            <a:pPr marL="0" marR="0" lvl="0" indent="0" algn="just" defTabSz="457200" rtl="0" eaLnBrk="1" fontAlgn="auto" latinLnBrk="0" hangingPunct="1">
              <a:lnSpc>
                <a:spcPct val="107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black">
                    <a:lumMod val="85000"/>
                    <a:lumOff val="15000"/>
                  </a:prstClr>
                </a:solidFill>
                <a:effectLst/>
                <a:uLnTx/>
                <a:uFillTx/>
                <a:latin typeface="Century Gothic" panose="020B0502020202020204" pitchFamily="34" charset="0"/>
                <a:ea typeface="+mn-ea"/>
                <a:cs typeface="+mn-cs"/>
              </a:rPr>
              <a:t>We increase funding success chances </a:t>
            </a:r>
            <a:r>
              <a:rPr kumimoji="0" lang="en-US" b="1" i="0" u="none" strike="noStrike" kern="1200" cap="none" spc="0" normalizeH="0" baseline="0" noProof="0" dirty="0">
                <a:ln>
                  <a:noFill/>
                </a:ln>
                <a:solidFill>
                  <a:srgbClr val="9E21B7"/>
                </a:solidFill>
                <a:effectLst/>
                <a:uLnTx/>
                <a:uFillTx/>
                <a:latin typeface="Century Gothic" panose="020B0502020202020204" pitchFamily="34" charset="0"/>
                <a:ea typeface="+mn-ea"/>
                <a:cs typeface="+mn-cs"/>
              </a:rPr>
              <a:t>x27 times</a:t>
            </a:r>
            <a:endParaRPr kumimoji="0" lang="en-US" sz="1600" b="1" i="0" u="none" strike="noStrike" kern="1200" cap="none" spc="0" normalizeH="0" baseline="0" noProof="0" dirty="0">
              <a:ln>
                <a:noFill/>
              </a:ln>
              <a:solidFill>
                <a:srgbClr val="9E21B7"/>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778673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D21B7CCF-BBCE-39CE-F2A8-65939655AD44}"/>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3" name="Marcador de número de diapositiva 2">
            <a:extLst>
              <a:ext uri="{FF2B5EF4-FFF2-40B4-BE49-F238E27FC236}">
                <a16:creationId xmlns:a16="http://schemas.microsoft.com/office/drawing/2014/main" id="{C5742DF8-1D40-B55B-B60A-A9CF047BF8FB}"/>
              </a:ext>
            </a:extLst>
          </p:cNvPr>
          <p:cNvSpPr>
            <a:spLocks noGrp="1"/>
          </p:cNvSpPr>
          <p:nvPr>
            <p:ph type="sldNum" sz="quarter" idx="12"/>
          </p:nvPr>
        </p:nvSpPr>
        <p:spPr/>
        <p:txBody>
          <a:bodyPr/>
          <a:lstStyle/>
          <a:p>
            <a:fld id="{0425F90D-6CCB-471F-89CD-46DB18BC9278}" type="slidenum">
              <a:rPr lang="en-US" smtClean="0"/>
              <a:t>5</a:t>
            </a:fld>
            <a:endParaRPr lang="en-US"/>
          </a:p>
        </p:txBody>
      </p:sp>
      <p:sp>
        <p:nvSpPr>
          <p:cNvPr id="6" name="CuadroTexto 5">
            <a:extLst>
              <a:ext uri="{FF2B5EF4-FFF2-40B4-BE49-F238E27FC236}">
                <a16:creationId xmlns:a16="http://schemas.microsoft.com/office/drawing/2014/main" id="{785168DD-4422-9657-1AD8-3F7A3CE53546}"/>
              </a:ext>
            </a:extLst>
          </p:cNvPr>
          <p:cNvSpPr txBox="1"/>
          <p:nvPr/>
        </p:nvSpPr>
        <p:spPr>
          <a:xfrm>
            <a:off x="644857" y="1530907"/>
            <a:ext cx="5448372" cy="8032520"/>
          </a:xfrm>
          <a:prstGeom prst="rect">
            <a:avLst/>
          </a:prstGeom>
          <a:noFill/>
        </p:spPr>
        <p:txBody>
          <a:bodyPr wrap="square">
            <a:spAutoFit/>
          </a:bodyPr>
          <a:lstStyle/>
          <a:p>
            <a:pPr algn="l"/>
            <a:endParaRPr lang="en-US" sz="1200" b="1" dirty="0">
              <a:solidFill>
                <a:srgbClr val="9E21B7"/>
              </a:solidFill>
              <a:latin typeface="Century Gothic" panose="020B0502020202020204" pitchFamily="34" charset="0"/>
            </a:endParaRPr>
          </a:p>
          <a:p>
            <a:pPr algn="l"/>
            <a:endParaRPr lang="en-US" sz="1200" b="1" dirty="0">
              <a:solidFill>
                <a:srgbClr val="9E21B7"/>
              </a:solidFill>
              <a:latin typeface="Century Gothic" panose="020B0502020202020204" pitchFamily="34" charset="0"/>
            </a:endParaRPr>
          </a:p>
          <a:p>
            <a:pPr algn="l"/>
            <a:endParaRPr lang="en-US" sz="1200" b="1" dirty="0">
              <a:solidFill>
                <a:srgbClr val="9E21B7"/>
              </a:solidFill>
              <a:latin typeface="Century Gothic" panose="020B0502020202020204" pitchFamily="34" charset="0"/>
            </a:endParaRPr>
          </a:p>
          <a:p>
            <a:pPr algn="l"/>
            <a:endParaRPr lang="en-US" sz="1200" b="1" dirty="0">
              <a:solidFill>
                <a:srgbClr val="9E21B7"/>
              </a:solidFill>
              <a:latin typeface="Century Gothic" panose="020B0502020202020204" pitchFamily="34" charset="0"/>
            </a:endParaRPr>
          </a:p>
          <a:p>
            <a:pPr algn="l"/>
            <a:r>
              <a:rPr lang="en-US" sz="1200" b="1" dirty="0">
                <a:solidFill>
                  <a:srgbClr val="142542"/>
                </a:solidFill>
                <a:latin typeface="Century Gothic" panose="020B0502020202020204" pitchFamily="34" charset="0"/>
              </a:rPr>
              <a:t>FIXED FEES*</a:t>
            </a:r>
          </a:p>
          <a:p>
            <a:pPr marL="171450" indent="-171450" algn="l">
              <a:buFont typeface="Arial" panose="020B0604020202020204" pitchFamily="34" charset="0"/>
              <a:buChar char="•"/>
            </a:pPr>
            <a:r>
              <a:rPr lang="en-US" sz="1200" b="1" dirty="0">
                <a:solidFill>
                  <a:srgbClr val="374151"/>
                </a:solidFill>
                <a:latin typeface="Century Gothic" panose="020B0502020202020204" pitchFamily="34" charset="0"/>
              </a:rPr>
              <a:t>Evaluation: Free</a:t>
            </a:r>
          </a:p>
          <a:p>
            <a:pPr marL="628650" indent="-171450" algn="l">
              <a:buFont typeface="Arial" panose="020B0604020202020204" pitchFamily="34" charset="0"/>
              <a:buChar char="•"/>
            </a:pPr>
            <a:r>
              <a:rPr lang="en-US" sz="1200" dirty="0">
                <a:solidFill>
                  <a:srgbClr val="374151"/>
                </a:solidFill>
                <a:latin typeface="Century Gothic" panose="020B0502020202020204" pitchFamily="34" charset="0"/>
              </a:rPr>
              <a:t>Silicon Capital will not charge any fee for the evaluation process.</a:t>
            </a:r>
          </a:p>
          <a:p>
            <a:pPr marL="171450" indent="-171450" algn="l">
              <a:buFont typeface="Arial" panose="020B0604020202020204" pitchFamily="34" charset="0"/>
              <a:buChar char="•"/>
            </a:pPr>
            <a:endParaRPr lang="en-US" sz="1200" b="1" dirty="0">
              <a:solidFill>
                <a:srgbClr val="374151"/>
              </a:solidFill>
              <a:latin typeface="Century Gothic" panose="020B0502020202020204" pitchFamily="34" charset="0"/>
            </a:endParaRPr>
          </a:p>
          <a:p>
            <a:pPr marL="171450" indent="-171450">
              <a:buFont typeface="Arial" panose="020B0604020202020204" pitchFamily="34" charset="0"/>
              <a:buChar char="•"/>
            </a:pPr>
            <a:r>
              <a:rPr lang="en-US" sz="1200" b="1" dirty="0">
                <a:solidFill>
                  <a:srgbClr val="374151"/>
                </a:solidFill>
                <a:latin typeface="Century Gothic" panose="020B0502020202020204" pitchFamily="34" charset="0"/>
              </a:rPr>
              <a:t>Set-up services: {{SETUP_FEE}}€</a:t>
            </a:r>
          </a:p>
          <a:p>
            <a:pPr marL="628650" lvl="1" indent="-171450" algn="just">
              <a:lnSpc>
                <a:spcPct val="115000"/>
              </a:lnSpc>
              <a:buFont typeface="Arial" panose="020B0604020202020204" pitchFamily="34" charset="0"/>
              <a:buChar char="•"/>
            </a:pPr>
            <a:r>
              <a:rPr lang="en-US" sz="1200" dirty="0">
                <a:solidFill>
                  <a:srgbClr val="374151"/>
                </a:solidFill>
                <a:latin typeface="Century Gothic" panose="020B0502020202020204" pitchFamily="34" charset="0"/>
              </a:rPr>
              <a:t>Silicon Capital will invoice the Set-up fee services upon signing the agreement.</a:t>
            </a:r>
          </a:p>
          <a:p>
            <a:pPr marL="628650" lvl="1" indent="-171450" algn="just">
              <a:lnSpc>
                <a:spcPct val="115000"/>
              </a:lnSpc>
              <a:buFont typeface="Arial" panose="020B0604020202020204" pitchFamily="34" charset="0"/>
              <a:buChar char="•"/>
            </a:pPr>
            <a:endParaRPr lang="en-US" sz="1200" dirty="0">
              <a:solidFill>
                <a:srgbClr val="374151"/>
              </a:solidFill>
              <a:latin typeface="Century Gothic" panose="020B0502020202020204" pitchFamily="34" charset="0"/>
            </a:endParaRPr>
          </a:p>
          <a:p>
            <a:pPr marL="171450" indent="-171450" algn="just">
              <a:lnSpc>
                <a:spcPct val="115000"/>
              </a:lnSpc>
              <a:buFont typeface="Arial" panose="020B0604020202020204" pitchFamily="34" charset="0"/>
              <a:buChar char="•"/>
            </a:pPr>
            <a:r>
              <a:rPr lang="en-US" sz="1200" b="1" dirty="0">
                <a:solidFill>
                  <a:srgbClr val="374151"/>
                </a:solidFill>
                <a:latin typeface="Century Gothic" panose="020B0502020202020204" pitchFamily="34" charset="0"/>
              </a:rPr>
              <a:t>Short Application Success Fee: {{SHORT_FEE}}€</a:t>
            </a:r>
          </a:p>
          <a:p>
            <a:pPr marL="628650" lvl="1" indent="-171450" algn="just">
              <a:lnSpc>
                <a:spcPct val="115000"/>
              </a:lnSpc>
              <a:buFont typeface="Arial" panose="020B0604020202020204" pitchFamily="34" charset="0"/>
              <a:buChar char="•"/>
            </a:pPr>
            <a:r>
              <a:rPr lang="en-US" sz="1200" dirty="0">
                <a:solidFill>
                  <a:srgbClr val="374151"/>
                </a:solidFill>
                <a:latin typeface="Century Gothic" panose="020B0502020202020204" pitchFamily="34" charset="0"/>
              </a:rPr>
              <a:t>Silicon Capital will invoice the Short Application Success Fee on the date following the “Step 2: Full Application to EIC Accelerator Program” access success notification received by the company. </a:t>
            </a:r>
          </a:p>
          <a:p>
            <a:pPr marL="628650" lvl="1" indent="-171450" algn="just">
              <a:lnSpc>
                <a:spcPct val="115000"/>
              </a:lnSpc>
              <a:buFont typeface="Arial" panose="020B0604020202020204" pitchFamily="34" charset="0"/>
              <a:buChar char="•"/>
            </a:pPr>
            <a:endParaRPr lang="en-US" sz="1200" dirty="0">
              <a:solidFill>
                <a:srgbClr val="374151"/>
              </a:solidFill>
              <a:latin typeface="Century Gothic" panose="020B0502020202020204" pitchFamily="34" charset="0"/>
            </a:endParaRPr>
          </a:p>
          <a:p>
            <a:pPr marL="171450" indent="-171450" algn="just">
              <a:lnSpc>
                <a:spcPct val="115000"/>
              </a:lnSpc>
              <a:buFont typeface="Arial" panose="020B0604020202020204" pitchFamily="34" charset="0"/>
              <a:buChar char="•"/>
            </a:pPr>
            <a:r>
              <a:rPr lang="en-US" sz="1200" b="1" dirty="0">
                <a:solidFill>
                  <a:srgbClr val="374151"/>
                </a:solidFill>
                <a:latin typeface="Century Gothic" panose="020B0502020202020204" pitchFamily="34" charset="0"/>
              </a:rPr>
              <a:t>Full Application Success Fee: {{FULL_FEE}}€ </a:t>
            </a:r>
          </a:p>
          <a:p>
            <a:pPr marL="628650" lvl="1" indent="-171450" algn="just">
              <a:lnSpc>
                <a:spcPct val="115000"/>
              </a:lnSpc>
              <a:buFont typeface="Arial" panose="020B0604020202020204" pitchFamily="34" charset="0"/>
              <a:buChar char="•"/>
            </a:pPr>
            <a:r>
              <a:rPr lang="en-US" sz="1200" dirty="0">
                <a:solidFill>
                  <a:srgbClr val="374151"/>
                </a:solidFill>
                <a:latin typeface="Century Gothic" panose="020B0502020202020204" pitchFamily="34" charset="0"/>
              </a:rPr>
              <a:t>Silicon Capital will invoice the Full Application Success Fee on the date following the “Step 3: Final interview” access success notification received by the company. </a:t>
            </a:r>
          </a:p>
          <a:p>
            <a:pPr lvl="1" algn="just">
              <a:lnSpc>
                <a:spcPct val="115000"/>
              </a:lnSpc>
            </a:pPr>
            <a:endParaRPr lang="en-US" sz="1200" dirty="0">
              <a:solidFill>
                <a:srgbClr val="374151"/>
              </a:solidFill>
              <a:latin typeface="Century Gothic" panose="020B0502020202020204" pitchFamily="34" charset="0"/>
            </a:endParaRPr>
          </a:p>
          <a:p>
            <a:pPr marL="171450" indent="-171450" algn="l">
              <a:buFont typeface="Arial" panose="020B0604020202020204" pitchFamily="34" charset="0"/>
              <a:buChar char="•"/>
            </a:pPr>
            <a:endParaRPr lang="en-US" sz="1200" b="1" dirty="0">
              <a:solidFill>
                <a:srgbClr val="374151"/>
              </a:solidFill>
              <a:latin typeface="Century Gothic" panose="020B0502020202020204" pitchFamily="34" charset="0"/>
            </a:endParaRPr>
          </a:p>
          <a:p>
            <a:endParaRPr lang="en-US" sz="1200" b="1" dirty="0">
              <a:solidFill>
                <a:srgbClr val="9E21B7"/>
              </a:solidFill>
              <a:latin typeface="Century Gothic" panose="020B0502020202020204" pitchFamily="34" charset="0"/>
            </a:endParaRPr>
          </a:p>
          <a:p>
            <a:endParaRPr lang="en-US" sz="1200" b="1" dirty="0">
              <a:solidFill>
                <a:srgbClr val="9E21B7"/>
              </a:solidFill>
              <a:latin typeface="Century Gothic" panose="020B0502020202020204" pitchFamily="34" charset="0"/>
            </a:endParaRPr>
          </a:p>
          <a:p>
            <a:endParaRPr lang="en-US" sz="1200" b="1" dirty="0">
              <a:solidFill>
                <a:srgbClr val="9E21B7"/>
              </a:solidFill>
              <a:latin typeface="Century Gothic" panose="020B0502020202020204" pitchFamily="34" charset="0"/>
            </a:endParaRPr>
          </a:p>
          <a:p>
            <a:r>
              <a:rPr lang="en-US" sz="1200" b="1" dirty="0">
                <a:solidFill>
                  <a:srgbClr val="142542"/>
                </a:solidFill>
                <a:latin typeface="Century Gothic" panose="020B0502020202020204" pitchFamily="34" charset="0"/>
              </a:rPr>
              <a:t>SUCCESS FEES</a:t>
            </a:r>
          </a:p>
          <a:p>
            <a:pPr algn="just">
              <a:lnSpc>
                <a:spcPct val="115000"/>
              </a:lnSpc>
            </a:pPr>
            <a:endParaRPr lang="en-US" sz="1200" dirty="0">
              <a:solidFill>
                <a:srgbClr val="374151"/>
              </a:solidFill>
              <a:latin typeface="Century Gothic" panose="020B0502020202020204" pitchFamily="34" charset="0"/>
            </a:endParaRPr>
          </a:p>
          <a:p>
            <a:pPr marL="171450" indent="-171450" algn="just">
              <a:lnSpc>
                <a:spcPct val="115000"/>
              </a:lnSpc>
              <a:buFont typeface="Arial" panose="020B0604020202020204" pitchFamily="34" charset="0"/>
              <a:buChar char="•"/>
            </a:pPr>
            <a:r>
              <a:rPr lang="en-US" sz="1200" b="1" dirty="0">
                <a:solidFill>
                  <a:srgbClr val="374151"/>
                </a:solidFill>
                <a:latin typeface="Century Gothic" panose="020B0502020202020204" pitchFamily="34" charset="0"/>
              </a:rPr>
              <a:t>Grant Component success fee: {{GRANT_FEE}}% of the grant total amount as defined in the short proposal</a:t>
            </a:r>
          </a:p>
          <a:p>
            <a:pPr marL="628650" lvl="1" indent="-171450" algn="just">
              <a:lnSpc>
                <a:spcPct val="115000"/>
              </a:lnSpc>
              <a:buFont typeface="Arial" panose="020B0604020202020204" pitchFamily="34" charset="0"/>
              <a:buChar char="•"/>
            </a:pPr>
            <a:r>
              <a:rPr lang="en-US" sz="1200" dirty="0">
                <a:solidFill>
                  <a:srgbClr val="374151"/>
                </a:solidFill>
                <a:latin typeface="Century Gothic" panose="020B0502020202020204" pitchFamily="34" charset="0"/>
              </a:rPr>
              <a:t> Silicon Capital will negotiate the payment structure with the company.</a:t>
            </a:r>
          </a:p>
          <a:p>
            <a:pPr algn="just">
              <a:lnSpc>
                <a:spcPct val="115000"/>
              </a:lnSpc>
            </a:pPr>
            <a:endParaRPr lang="en-US" sz="1200" dirty="0">
              <a:solidFill>
                <a:srgbClr val="374151"/>
              </a:solidFill>
              <a:latin typeface="Century Gothic" panose="020B0502020202020204" pitchFamily="34" charset="0"/>
            </a:endParaRPr>
          </a:p>
          <a:p>
            <a:pPr marL="171450" indent="-171450" algn="just">
              <a:lnSpc>
                <a:spcPct val="115000"/>
              </a:lnSpc>
              <a:buFont typeface="Arial" panose="020B0604020202020204" pitchFamily="34" charset="0"/>
              <a:buChar char="•"/>
            </a:pPr>
            <a:r>
              <a:rPr lang="en-US" sz="1200" b="1" dirty="0">
                <a:solidFill>
                  <a:srgbClr val="374151"/>
                </a:solidFill>
                <a:latin typeface="Century Gothic" panose="020B0502020202020204" pitchFamily="34" charset="0"/>
              </a:rPr>
              <a:t>Equity Component success fee:  {{EQUITY_FEE}}% of the Equity total amount as defined in the full proposal</a:t>
            </a:r>
          </a:p>
          <a:p>
            <a:pPr marL="628650" lvl="1" indent="-171450" algn="just">
              <a:lnSpc>
                <a:spcPct val="115000"/>
              </a:lnSpc>
              <a:buFont typeface="Arial" panose="020B0604020202020204" pitchFamily="34" charset="0"/>
              <a:buChar char="•"/>
            </a:pPr>
            <a:r>
              <a:rPr lang="en-US" sz="1200" dirty="0">
                <a:solidFill>
                  <a:srgbClr val="374151"/>
                </a:solidFill>
                <a:latin typeface="Century Gothic" panose="020B0502020202020204" pitchFamily="34" charset="0"/>
              </a:rPr>
              <a:t>Silicon Capital will negotiate the payment structure with the company.</a:t>
            </a:r>
          </a:p>
        </p:txBody>
      </p:sp>
      <p:cxnSp>
        <p:nvCxnSpPr>
          <p:cNvPr id="10" name="Conector recto 9">
            <a:extLst>
              <a:ext uri="{FF2B5EF4-FFF2-40B4-BE49-F238E27FC236}">
                <a16:creationId xmlns:a16="http://schemas.microsoft.com/office/drawing/2014/main" id="{C8E8A001-4FC6-DFA2-5259-B4E75DD145A7}"/>
              </a:ext>
            </a:extLst>
          </p:cNvPr>
          <p:cNvCxnSpPr>
            <a:cxnSpLocks/>
          </p:cNvCxnSpPr>
          <p:nvPr/>
        </p:nvCxnSpPr>
        <p:spPr>
          <a:xfrm>
            <a:off x="728818" y="1504401"/>
            <a:ext cx="694868" cy="0"/>
          </a:xfrm>
          <a:prstGeom prst="line">
            <a:avLst/>
          </a:prstGeom>
          <a:ln w="38100">
            <a:solidFill>
              <a:srgbClr val="142542"/>
            </a:solidFill>
          </a:ln>
        </p:spPr>
        <p:style>
          <a:lnRef idx="1">
            <a:schemeClr val="accent1"/>
          </a:lnRef>
          <a:fillRef idx="0">
            <a:schemeClr val="accent1"/>
          </a:fillRef>
          <a:effectRef idx="0">
            <a:schemeClr val="accent1"/>
          </a:effectRef>
          <a:fontRef idx="minor">
            <a:schemeClr val="tx1"/>
          </a:fontRef>
        </p:style>
      </p:cxnSp>
      <p:pic>
        <p:nvPicPr>
          <p:cNvPr id="11" name="Gráfico 10" descr="Medalla con relleno sólido">
            <a:extLst>
              <a:ext uri="{FF2B5EF4-FFF2-40B4-BE49-F238E27FC236}">
                <a16:creationId xmlns:a16="http://schemas.microsoft.com/office/drawing/2014/main" id="{63B9763A-51B2-27CF-1125-6C430DFFBF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95828" y="6506759"/>
            <a:ext cx="527858" cy="527858"/>
          </a:xfrm>
          <a:prstGeom prst="rect">
            <a:avLst/>
          </a:prstGeom>
        </p:spPr>
      </p:pic>
      <p:pic>
        <p:nvPicPr>
          <p:cNvPr id="14" name="Gráfico 13" descr="Sellos discográfico con relleno sólido">
            <a:extLst>
              <a:ext uri="{FF2B5EF4-FFF2-40B4-BE49-F238E27FC236}">
                <a16:creationId xmlns:a16="http://schemas.microsoft.com/office/drawing/2014/main" id="{2C46018C-F248-9653-1181-436EC4E44E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95828" y="1835327"/>
            <a:ext cx="527858" cy="527858"/>
          </a:xfrm>
          <a:prstGeom prst="rect">
            <a:avLst/>
          </a:prstGeom>
        </p:spPr>
      </p:pic>
      <p:sp>
        <p:nvSpPr>
          <p:cNvPr id="4" name="CuadroTexto 3">
            <a:extLst>
              <a:ext uri="{FF2B5EF4-FFF2-40B4-BE49-F238E27FC236}">
                <a16:creationId xmlns:a16="http://schemas.microsoft.com/office/drawing/2014/main" id="{D721893E-E1C2-43AB-0C1C-1CB68C2C5206}"/>
              </a:ext>
            </a:extLst>
          </p:cNvPr>
          <p:cNvSpPr txBox="1"/>
          <p:nvPr/>
        </p:nvSpPr>
        <p:spPr>
          <a:xfrm>
            <a:off x="644857" y="629877"/>
            <a:ext cx="6084806" cy="892552"/>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OUR PROPOSAL </a:t>
            </a:r>
            <a:endParaRPr lang="es-ES" sz="2400" b="1" dirty="0">
              <a:solidFill>
                <a:srgbClr val="203864"/>
              </a:solidFill>
              <a:latin typeface="Century Gothic" panose="020B0502020202020204" pitchFamily="34" charset="0"/>
            </a:endParaRPr>
          </a:p>
          <a:p>
            <a:pPr algn="just"/>
            <a:r>
              <a:rPr lang="es-ES" sz="2400" b="1" dirty="0">
                <a:solidFill>
                  <a:srgbClr val="203864"/>
                </a:solidFill>
                <a:latin typeface="Century Gothic" panose="020B0502020202020204" pitchFamily="34" charset="0"/>
              </a:rPr>
              <a:t>EIC ACCELERATOR</a:t>
            </a:r>
          </a:p>
        </p:txBody>
      </p:sp>
      <p:sp>
        <p:nvSpPr>
          <p:cNvPr id="5" name="CuadroTexto 4">
            <a:extLst>
              <a:ext uri="{FF2B5EF4-FFF2-40B4-BE49-F238E27FC236}">
                <a16:creationId xmlns:a16="http://schemas.microsoft.com/office/drawing/2014/main" id="{A6AC4FE6-F8FA-BB3D-4373-5D8E19B677F6}"/>
              </a:ext>
            </a:extLst>
          </p:cNvPr>
          <p:cNvSpPr txBox="1"/>
          <p:nvPr/>
        </p:nvSpPr>
        <p:spPr>
          <a:xfrm>
            <a:off x="-1" y="9649659"/>
            <a:ext cx="6497053" cy="215444"/>
          </a:xfrm>
          <a:prstGeom prst="rect">
            <a:avLst/>
          </a:prstGeom>
          <a:noFill/>
        </p:spPr>
        <p:txBody>
          <a:bodyPr wrap="square">
            <a:spAutoFit/>
          </a:bodyPr>
          <a:lstStyle/>
          <a:p>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Our</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fixed</a:t>
            </a:r>
            <a:r>
              <a:rPr lang="es-ES" sz="800" dirty="0">
                <a:solidFill>
                  <a:schemeClr val="bg2">
                    <a:lumMod val="50000"/>
                  </a:schemeClr>
                </a:solidFill>
                <a:latin typeface="Century Gothic" panose="020B0502020202020204" pitchFamily="34" charset="0"/>
              </a:rPr>
              <a:t> fees are </a:t>
            </a:r>
            <a:r>
              <a:rPr lang="es-ES" sz="800" dirty="0" err="1">
                <a:solidFill>
                  <a:schemeClr val="bg2">
                    <a:lumMod val="50000"/>
                  </a:schemeClr>
                </a:solidFill>
                <a:latin typeface="Century Gothic" panose="020B0502020202020204" pitchFamily="34" charset="0"/>
              </a:rPr>
              <a:t>not</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profit-oriented</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but</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rather</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cover</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operational</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costs</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mainly</a:t>
            </a:r>
            <a:r>
              <a:rPr lang="es-ES" sz="800" dirty="0">
                <a:solidFill>
                  <a:schemeClr val="bg2">
                    <a:lumMod val="50000"/>
                  </a:schemeClr>
                </a:solidFill>
                <a:latin typeface="Century Gothic" panose="020B0502020202020204" pitchFamily="34" charset="0"/>
              </a:rPr>
              <a:t> human </a:t>
            </a:r>
            <a:r>
              <a:rPr lang="es-ES" sz="800" dirty="0" err="1">
                <a:solidFill>
                  <a:schemeClr val="bg2">
                    <a:lumMod val="50000"/>
                  </a:schemeClr>
                </a:solidFill>
                <a:latin typeface="Century Gothic" panose="020B0502020202020204" pitchFamily="34" charset="0"/>
              </a:rPr>
              <a:t>resources</a:t>
            </a:r>
            <a:r>
              <a:rPr lang="es-ES" sz="800" dirty="0">
                <a:solidFill>
                  <a:schemeClr val="bg2">
                    <a:lumMod val="50000"/>
                  </a:schemeClr>
                </a:solidFill>
                <a:latin typeface="Century Gothic" panose="020B0502020202020204" pitchFamily="34" charset="0"/>
              </a:rPr>
              <a:t>, </a:t>
            </a:r>
            <a:r>
              <a:rPr lang="es-ES" sz="800" dirty="0" err="1">
                <a:solidFill>
                  <a:schemeClr val="bg2">
                    <a:lumMod val="50000"/>
                  </a:schemeClr>
                </a:solidFill>
                <a:latin typeface="Century Gothic" panose="020B0502020202020204" pitchFamily="34" charset="0"/>
              </a:rPr>
              <a:t>assessments</a:t>
            </a:r>
            <a:r>
              <a:rPr lang="es-ES" sz="800" dirty="0">
                <a:solidFill>
                  <a:schemeClr val="bg2">
                    <a:lumMod val="50000"/>
                  </a:schemeClr>
                </a:solidFill>
                <a:latin typeface="Century Gothic" panose="020B0502020202020204" pitchFamily="34" charset="0"/>
              </a:rPr>
              <a:t> and </a:t>
            </a:r>
            <a:r>
              <a:rPr lang="es-ES" sz="800" dirty="0" err="1">
                <a:solidFill>
                  <a:schemeClr val="bg2">
                    <a:lumMod val="50000"/>
                  </a:schemeClr>
                </a:solidFill>
                <a:latin typeface="Century Gothic" panose="020B0502020202020204" pitchFamily="34" charset="0"/>
              </a:rPr>
              <a:t>travel</a:t>
            </a:r>
            <a:r>
              <a:rPr lang="es-ES" sz="800" dirty="0">
                <a:solidFill>
                  <a:schemeClr val="bg2">
                    <a:lumMod val="50000"/>
                  </a:schemeClr>
                </a:solidFill>
                <a:latin typeface="Century Gothic" panose="020B0502020202020204" pitchFamily="34" charset="0"/>
              </a:rPr>
              <a:t>. </a:t>
            </a:r>
          </a:p>
        </p:txBody>
      </p:sp>
    </p:spTree>
    <p:extLst>
      <p:ext uri="{BB962C8B-B14F-4D97-AF65-F5344CB8AC3E}">
        <p14:creationId xmlns:p14="http://schemas.microsoft.com/office/powerpoint/2010/main" val="2112709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159E9-B2B0-0E23-0950-6471AC4FCA72}"/>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EADA878A-BF8A-72F0-3819-E38E87EFCC0D}"/>
              </a:ext>
            </a:extLst>
          </p:cNvPr>
          <p:cNvSpPr txBox="1"/>
          <p:nvPr/>
        </p:nvSpPr>
        <p:spPr>
          <a:xfrm>
            <a:off x="644857" y="7212405"/>
            <a:ext cx="5568286" cy="1815882"/>
          </a:xfrm>
          <a:prstGeom prst="rect">
            <a:avLst/>
          </a:prstGeom>
          <a:noFill/>
        </p:spPr>
        <p:txBody>
          <a:bodyPr wrap="square" rtlCol="0">
            <a:spAutoFit/>
          </a:bodyPr>
          <a:lstStyle/>
          <a:p>
            <a:pPr algn="just"/>
            <a:r>
              <a:rPr lang="es-ES" sz="2400" b="1" dirty="0" err="1">
                <a:solidFill>
                  <a:srgbClr val="203864"/>
                </a:solidFill>
                <a:latin typeface="Century Gothic" panose="020B0502020202020204" pitchFamily="34" charset="0"/>
              </a:rPr>
              <a:t>Annex</a:t>
            </a:r>
            <a:r>
              <a:rPr lang="es-ES" sz="2400" b="1" dirty="0">
                <a:solidFill>
                  <a:srgbClr val="203864"/>
                </a:solidFill>
                <a:latin typeface="Century Gothic" panose="020B0502020202020204" pitchFamily="34" charset="0"/>
              </a:rPr>
              <a:t> A</a:t>
            </a:r>
          </a:p>
          <a:p>
            <a:pPr algn="just"/>
            <a:r>
              <a:rPr lang="es-ES" sz="2800" b="1" dirty="0">
                <a:solidFill>
                  <a:srgbClr val="203864"/>
                </a:solidFill>
                <a:latin typeface="Century Gothic" panose="020B0502020202020204" pitchFamily="34" charset="0"/>
              </a:rPr>
              <a:t>UNDERSTANDING THE </a:t>
            </a:r>
          </a:p>
          <a:p>
            <a:pPr algn="just"/>
            <a:r>
              <a:rPr lang="es-ES" sz="2800" b="1" dirty="0">
                <a:solidFill>
                  <a:srgbClr val="203864"/>
                </a:solidFill>
                <a:latin typeface="Century Gothic" panose="020B0502020202020204" pitchFamily="34" charset="0"/>
              </a:rPr>
              <a:t>EIC ACCELERATOR</a:t>
            </a:r>
          </a:p>
          <a:p>
            <a:pPr algn="just"/>
            <a:r>
              <a:rPr lang="es-ES" sz="2800" b="1" dirty="0">
                <a:solidFill>
                  <a:srgbClr val="203864"/>
                </a:solidFill>
                <a:latin typeface="Century Gothic" panose="020B0502020202020204" pitchFamily="34" charset="0"/>
              </a:rPr>
              <a:t>CRITERIA</a:t>
            </a:r>
          </a:p>
        </p:txBody>
      </p:sp>
      <p:sp>
        <p:nvSpPr>
          <p:cNvPr id="9" name="CuadroTexto 8">
            <a:extLst>
              <a:ext uri="{FF2B5EF4-FFF2-40B4-BE49-F238E27FC236}">
                <a16:creationId xmlns:a16="http://schemas.microsoft.com/office/drawing/2014/main" id="{5A3991B0-6017-7E67-CD5B-D0E04B9056FB}"/>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Tree>
    <p:extLst>
      <p:ext uri="{BB962C8B-B14F-4D97-AF65-F5344CB8AC3E}">
        <p14:creationId xmlns:p14="http://schemas.microsoft.com/office/powerpoint/2010/main" val="10529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02E22-14A5-D2D0-5AD3-26D1A24ACC66}"/>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439D2AF5-CFBB-0CE7-35AC-B05C3DEA6E9E}"/>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3" name="CuadroTexto 2">
            <a:extLst>
              <a:ext uri="{FF2B5EF4-FFF2-40B4-BE49-F238E27FC236}">
                <a16:creationId xmlns:a16="http://schemas.microsoft.com/office/drawing/2014/main" id="{3557DD6F-8500-175F-5AB0-F30BDEF90BD3}"/>
              </a:ext>
            </a:extLst>
          </p:cNvPr>
          <p:cNvSpPr txBox="1"/>
          <p:nvPr/>
        </p:nvSpPr>
        <p:spPr>
          <a:xfrm>
            <a:off x="728818" y="1768013"/>
            <a:ext cx="5771407" cy="5412828"/>
          </a:xfrm>
          <a:prstGeom prst="rect">
            <a:avLst/>
          </a:prstGeom>
          <a:noFill/>
        </p:spPr>
        <p:txBody>
          <a:bodyPr wrap="square">
            <a:spAutoFit/>
          </a:bodyPr>
          <a:lstStyle/>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technology is an apparent disruptive innovation without direct competitors in specific value (s) and is susceptible to intellectual protection.</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technology is in TRL 6 to TRL 8, with a prototype tested or in the testing process in a real-world environment (proof of concept).</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company is based in Europe or associated countries. </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technology belongs 100% to a startup committed to the product's development and eventual commercialization.</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There is a balance in the team's competencies between product (scientists and engineers) and market (business development and finance).</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company can access prospective customers and provide letters of intent.</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company’s innovation has a solid social responsibility or environmental impact on convincing the jury of the “good”.</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company has gained traction among potential investors with money in the bank or the capacity to raise 20% of the desired grant size.</a:t>
            </a:r>
          </a:p>
          <a:p>
            <a:pPr marL="257175" lvl="1" indent="-171450" algn="just">
              <a:lnSpc>
                <a:spcPct val="107000"/>
              </a:lnSpc>
              <a:buFont typeface="Wingdings" panose="05000000000000000000" pitchFamily="2" charset="2"/>
              <a:buChar char="q"/>
            </a:pPr>
            <a:endParaRPr lang="en-US" sz="1200" kern="100" dirty="0">
              <a:latin typeface="Century Gothic" panose="020B0502020202020204" pitchFamily="34" charset="0"/>
              <a:ea typeface="Calibri" panose="020F0502020204030204" pitchFamily="34" charset="0"/>
              <a:cs typeface="Times New Roman" panose="02020603050405020304" pitchFamily="18" charset="0"/>
            </a:endParaRPr>
          </a:p>
          <a:p>
            <a:pPr marL="257175" lvl="1" indent="-171450" algn="just">
              <a:lnSpc>
                <a:spcPct val="107000"/>
              </a:lnSpc>
              <a:buFont typeface="Wingdings" panose="05000000000000000000" pitchFamily="2" charset="2"/>
              <a:buChar char="q"/>
            </a:pPr>
            <a:r>
              <a:rPr lang="en-US" sz="1200" kern="100" dirty="0">
                <a:latin typeface="Century Gothic" panose="020B0502020202020204" pitchFamily="34" charset="0"/>
                <a:ea typeface="Calibri" panose="020F0502020204030204" pitchFamily="34" charset="0"/>
                <a:cs typeface="Times New Roman" panose="02020603050405020304" pitchFamily="18" charset="0"/>
              </a:rPr>
              <a:t>The company has a member with capacity to compose a business plan</a:t>
            </a:r>
            <a:endParaRPr lang="es-ES" sz="1200" kern="100" dirty="0">
              <a:latin typeface="Century Gothic" panose="020B0502020202020204" pitchFamily="34" charset="0"/>
              <a:ea typeface="Calibri" panose="020F0502020204030204" pitchFamily="34" charset="0"/>
              <a:cs typeface="Times New Roman" panose="02020603050405020304" pitchFamily="18" charset="0"/>
            </a:endParaRPr>
          </a:p>
        </p:txBody>
      </p:sp>
      <p:cxnSp>
        <p:nvCxnSpPr>
          <p:cNvPr id="4" name="Conector recto 3">
            <a:extLst>
              <a:ext uri="{FF2B5EF4-FFF2-40B4-BE49-F238E27FC236}">
                <a16:creationId xmlns:a16="http://schemas.microsoft.com/office/drawing/2014/main" id="{F6644422-1EA0-4AD0-A9C7-AE73B2401065}"/>
              </a:ext>
            </a:extLst>
          </p:cNvPr>
          <p:cNvCxnSpPr>
            <a:cxnSpLocks/>
          </p:cNvCxnSpPr>
          <p:nvPr/>
        </p:nvCxnSpPr>
        <p:spPr>
          <a:xfrm>
            <a:off x="728818" y="1582074"/>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BFAE3681-1F9E-0985-9B7B-7048E6DCF1BA}"/>
              </a:ext>
            </a:extLst>
          </p:cNvPr>
          <p:cNvSpPr txBox="1"/>
          <p:nvPr/>
        </p:nvSpPr>
        <p:spPr>
          <a:xfrm>
            <a:off x="644857" y="1040205"/>
            <a:ext cx="5568286" cy="523220"/>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Key </a:t>
            </a:r>
            <a:r>
              <a:rPr lang="es-ES" sz="2800" b="1" dirty="0" err="1">
                <a:solidFill>
                  <a:srgbClr val="203864"/>
                </a:solidFill>
                <a:latin typeface="Century Gothic" panose="020B0502020202020204" pitchFamily="34" charset="0"/>
              </a:rPr>
              <a:t>Criteria</a:t>
            </a:r>
            <a:endParaRPr lang="es-ES" sz="2800" b="1" dirty="0">
              <a:solidFill>
                <a:srgbClr val="203864"/>
              </a:solidFill>
              <a:latin typeface="Century Gothic" panose="020B0502020202020204" pitchFamily="34" charset="0"/>
            </a:endParaRPr>
          </a:p>
        </p:txBody>
      </p:sp>
    </p:spTree>
    <p:extLst>
      <p:ext uri="{BB962C8B-B14F-4D97-AF65-F5344CB8AC3E}">
        <p14:creationId xmlns:p14="http://schemas.microsoft.com/office/powerpoint/2010/main" val="1214882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FC286-C738-3C1C-2682-8D2C8EB59D2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7F0F3F4-CD2E-C56D-DE27-8C0C2E6D05B9}"/>
              </a:ext>
            </a:extLst>
          </p:cNvPr>
          <p:cNvSpPr txBox="1"/>
          <p:nvPr/>
        </p:nvSpPr>
        <p:spPr>
          <a:xfrm>
            <a:off x="644857" y="7212405"/>
            <a:ext cx="5568286" cy="1815882"/>
          </a:xfrm>
          <a:prstGeom prst="rect">
            <a:avLst/>
          </a:prstGeom>
          <a:noFill/>
        </p:spPr>
        <p:txBody>
          <a:bodyPr wrap="square" rtlCol="0">
            <a:spAutoFit/>
          </a:bodyPr>
          <a:lstStyle/>
          <a:p>
            <a:pPr algn="just"/>
            <a:r>
              <a:rPr lang="es-ES" sz="2400" b="1" dirty="0" err="1">
                <a:solidFill>
                  <a:srgbClr val="203864"/>
                </a:solidFill>
                <a:latin typeface="Century Gothic" panose="020B0502020202020204" pitchFamily="34" charset="0"/>
              </a:rPr>
              <a:t>Annex</a:t>
            </a:r>
            <a:r>
              <a:rPr lang="es-ES" sz="2400" b="1" dirty="0">
                <a:solidFill>
                  <a:srgbClr val="203864"/>
                </a:solidFill>
                <a:latin typeface="Century Gothic" panose="020B0502020202020204" pitchFamily="34" charset="0"/>
              </a:rPr>
              <a:t> B</a:t>
            </a:r>
          </a:p>
          <a:p>
            <a:pPr algn="just"/>
            <a:r>
              <a:rPr lang="es-ES" sz="2800" b="1" dirty="0">
                <a:solidFill>
                  <a:srgbClr val="203864"/>
                </a:solidFill>
                <a:latin typeface="Century Gothic" panose="020B0502020202020204" pitchFamily="34" charset="0"/>
              </a:rPr>
              <a:t>UNDERSTANDING THE </a:t>
            </a:r>
          </a:p>
          <a:p>
            <a:pPr algn="just"/>
            <a:r>
              <a:rPr lang="es-ES" sz="2800" b="1" dirty="0">
                <a:solidFill>
                  <a:srgbClr val="203864"/>
                </a:solidFill>
                <a:latin typeface="Century Gothic" panose="020B0502020202020204" pitchFamily="34" charset="0"/>
              </a:rPr>
              <a:t>EIC ACCELERATOR</a:t>
            </a:r>
          </a:p>
          <a:p>
            <a:pPr algn="just"/>
            <a:r>
              <a:rPr lang="es-ES" sz="2800" b="1" dirty="0">
                <a:solidFill>
                  <a:srgbClr val="203864"/>
                </a:solidFill>
                <a:latin typeface="Century Gothic" panose="020B0502020202020204" pitchFamily="34" charset="0"/>
              </a:rPr>
              <a:t>REQUIRED PROJECT</a:t>
            </a:r>
          </a:p>
        </p:txBody>
      </p:sp>
      <p:sp>
        <p:nvSpPr>
          <p:cNvPr id="9" name="CuadroTexto 8">
            <a:extLst>
              <a:ext uri="{FF2B5EF4-FFF2-40B4-BE49-F238E27FC236}">
                <a16:creationId xmlns:a16="http://schemas.microsoft.com/office/drawing/2014/main" id="{05046F18-49E2-3A77-E153-965F4E9660B1}"/>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Tree>
    <p:extLst>
      <p:ext uri="{BB962C8B-B14F-4D97-AF65-F5344CB8AC3E}">
        <p14:creationId xmlns:p14="http://schemas.microsoft.com/office/powerpoint/2010/main" val="4063837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6B8D8B-FC65-5475-4213-5DE87464883B}"/>
              </a:ext>
            </a:extLst>
          </p:cNvPr>
          <p:cNvSpPr txBox="1"/>
          <p:nvPr/>
        </p:nvSpPr>
        <p:spPr>
          <a:xfrm>
            <a:off x="644857" y="1819231"/>
            <a:ext cx="5568286" cy="7962501"/>
          </a:xfrm>
          <a:prstGeom prst="rect">
            <a:avLst/>
          </a:prstGeom>
          <a:noFill/>
        </p:spPr>
        <p:txBody>
          <a:bodyPr wrap="square" rtlCol="0">
            <a:spAutoFit/>
          </a:bodyPr>
          <a:lstStyle/>
          <a:p>
            <a:pPr>
              <a:lnSpc>
                <a:spcPct val="107000"/>
              </a:lnSpc>
              <a:spcAft>
                <a:spcPts val="800"/>
              </a:spcAft>
            </a:pPr>
            <a:r>
              <a:rPr lang="en-US" sz="1200" b="1" dirty="0">
                <a:solidFill>
                  <a:srgbClr val="203864"/>
                </a:solidFill>
                <a:latin typeface="Century Gothic" panose="020B0502020202020204" pitchFamily="34" charset="0"/>
              </a:rPr>
              <a:t>Required documentation:</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Short Proposal</a:t>
            </a:r>
            <a:r>
              <a:rPr lang="en-US" sz="1200" dirty="0">
                <a:latin typeface="Century Gothic" panose="020B0502020202020204" pitchFamily="34" charset="0"/>
              </a:rPr>
              <a:t>: A short proposal, request limited to 12 pages, describing:</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Company description</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Problem/opportunity</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Innovation</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Market potential</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Competition analysis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Broad impact</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Team and management</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Funding request.</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Pitch Deck</a:t>
            </a:r>
            <a:r>
              <a:rPr lang="en-US" sz="1200" dirty="0">
                <a:latin typeface="Century Gothic" panose="020B0502020202020204" pitchFamily="34" charset="0"/>
              </a:rPr>
              <a:t>: A 10-slide presentation summarizing your business model, market, and growth forecast (PDF format).</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Following strict rules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Requires apparent design</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Video</a:t>
            </a:r>
            <a:r>
              <a:rPr lang="en-US" sz="1200" dirty="0">
                <a:latin typeface="Century Gothic" panose="020B0502020202020204" pitchFamily="34" charset="0"/>
              </a:rPr>
              <a:t>: A maximum 3-minute video featuring key team members explaining the innovation and the motivation behind the project.</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Requires strict script</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Company Information</a:t>
            </a:r>
            <a:r>
              <a:rPr lang="en-US" sz="1200" dirty="0">
                <a:latin typeface="Century Gothic" panose="020B0502020202020204" pitchFamily="34" charset="0"/>
              </a:rPr>
              <a:t>: General information about the company, including the CEO or managing director.</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Consent for Data Sharing</a:t>
            </a:r>
            <a:r>
              <a:rPr lang="en-US" sz="1200" dirty="0">
                <a:latin typeface="Century Gothic" panose="020B0502020202020204" pitchFamily="34" charset="0"/>
              </a:rPr>
              <a:t>: Consent to share data with National Contact Points (NCP) and relevant authorities.</a:t>
            </a: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a:p>
            <a:pPr algn="just">
              <a:lnSpc>
                <a:spcPct val="107000"/>
              </a:lnSpc>
              <a:spcAft>
                <a:spcPts val="800"/>
              </a:spcAft>
              <a:buClr>
                <a:srgbClr val="9E21B7"/>
              </a:buClr>
            </a:pPr>
            <a:r>
              <a:rPr lang="en-US" sz="1200" b="1" dirty="0">
                <a:solidFill>
                  <a:srgbClr val="203864"/>
                </a:solidFill>
                <a:latin typeface="Century Gothic" panose="020B0502020202020204" pitchFamily="34" charset="0"/>
              </a:rPr>
              <a:t>Principles</a:t>
            </a:r>
            <a:r>
              <a:rPr lang="en-US" sz="1200" dirty="0">
                <a:latin typeface="Century Gothic" panose="020B0502020202020204" pitchFamily="34" charset="0"/>
              </a:rPr>
              <a:t>: All documentation must be created with the evaluation criteria in mind, establishing an intellectual, emotional, and ethical connection with the evaluators</a:t>
            </a:r>
          </a:p>
        </p:txBody>
      </p:sp>
      <p:cxnSp>
        <p:nvCxnSpPr>
          <p:cNvPr id="4" name="Conector recto 3">
            <a:extLst>
              <a:ext uri="{FF2B5EF4-FFF2-40B4-BE49-F238E27FC236}">
                <a16:creationId xmlns:a16="http://schemas.microsoft.com/office/drawing/2014/main" id="{257ACA7C-B402-C1EA-0853-54C7B25BE732}"/>
              </a:ext>
            </a:extLst>
          </p:cNvPr>
          <p:cNvCxnSpPr>
            <a:cxnSpLocks/>
          </p:cNvCxnSpPr>
          <p:nvPr/>
        </p:nvCxnSpPr>
        <p:spPr>
          <a:xfrm>
            <a:off x="728818" y="1582074"/>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04615EF-DD47-E943-CC6E-2B5A8D41F6E3}"/>
              </a:ext>
            </a:extLst>
          </p:cNvPr>
          <p:cNvSpPr txBox="1"/>
          <p:nvPr/>
        </p:nvSpPr>
        <p:spPr>
          <a:xfrm>
            <a:off x="644857" y="1040205"/>
            <a:ext cx="5568286" cy="523220"/>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Short </a:t>
            </a:r>
            <a:r>
              <a:rPr lang="es-ES" sz="2800" b="1" dirty="0" err="1">
                <a:solidFill>
                  <a:srgbClr val="203864"/>
                </a:solidFill>
                <a:latin typeface="Century Gothic" panose="020B0502020202020204" pitchFamily="34" charset="0"/>
              </a:rPr>
              <a:t>Proposal</a:t>
            </a:r>
            <a:r>
              <a:rPr lang="es-ES" sz="2800" b="1" dirty="0">
                <a:solidFill>
                  <a:srgbClr val="203864"/>
                </a:solidFill>
                <a:latin typeface="Century Gothic" panose="020B0502020202020204" pitchFamily="34" charset="0"/>
              </a:rPr>
              <a:t> </a:t>
            </a:r>
            <a:r>
              <a:rPr lang="es-ES" sz="2800" b="1" dirty="0" err="1">
                <a:solidFill>
                  <a:srgbClr val="203864"/>
                </a:solidFill>
                <a:latin typeface="Century Gothic" panose="020B0502020202020204" pitchFamily="34" charset="0"/>
              </a:rPr>
              <a:t>Stage</a:t>
            </a:r>
            <a:endParaRPr lang="es-ES" sz="2800" b="1" dirty="0">
              <a:solidFill>
                <a:srgbClr val="203864"/>
              </a:solidFill>
              <a:latin typeface="Century Gothic" panose="020B0502020202020204" pitchFamily="34" charset="0"/>
            </a:endParaRPr>
          </a:p>
        </p:txBody>
      </p:sp>
      <p:sp>
        <p:nvSpPr>
          <p:cNvPr id="9" name="CuadroTexto 8">
            <a:extLst>
              <a:ext uri="{FF2B5EF4-FFF2-40B4-BE49-F238E27FC236}">
                <a16:creationId xmlns:a16="http://schemas.microsoft.com/office/drawing/2014/main" id="{D21B7CCF-BBCE-39CE-F2A8-65939655AD44}"/>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6" name="Marcador de número de diapositiva 5">
            <a:extLst>
              <a:ext uri="{FF2B5EF4-FFF2-40B4-BE49-F238E27FC236}">
                <a16:creationId xmlns:a16="http://schemas.microsoft.com/office/drawing/2014/main" id="{D7B16037-FA28-B330-2BD6-AD6B7E4F4E1F}"/>
              </a:ext>
            </a:extLst>
          </p:cNvPr>
          <p:cNvSpPr>
            <a:spLocks noGrp="1"/>
          </p:cNvSpPr>
          <p:nvPr>
            <p:ph type="sldNum" sz="quarter" idx="12"/>
          </p:nvPr>
        </p:nvSpPr>
        <p:spPr/>
        <p:txBody>
          <a:bodyPr/>
          <a:lstStyle/>
          <a:p>
            <a:fld id="{0425F90D-6CCB-471F-89CD-46DB18BC9278}" type="slidenum">
              <a:rPr lang="en-US" smtClean="0"/>
              <a:t>9</a:t>
            </a:fld>
            <a:endParaRPr lang="en-US" dirty="0"/>
          </a:p>
        </p:txBody>
      </p:sp>
      <p:cxnSp>
        <p:nvCxnSpPr>
          <p:cNvPr id="3" name="Conector recto 2">
            <a:extLst>
              <a:ext uri="{FF2B5EF4-FFF2-40B4-BE49-F238E27FC236}">
                <a16:creationId xmlns:a16="http://schemas.microsoft.com/office/drawing/2014/main" id="{E7AF836B-20F4-928B-F53A-7E9363BD294E}"/>
              </a:ext>
            </a:extLst>
          </p:cNvPr>
          <p:cNvCxnSpPr>
            <a:cxnSpLocks/>
          </p:cNvCxnSpPr>
          <p:nvPr/>
        </p:nvCxnSpPr>
        <p:spPr>
          <a:xfrm>
            <a:off x="724462" y="8997440"/>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492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6B8D8B-FC65-5475-4213-5DE87464883B}"/>
              </a:ext>
            </a:extLst>
          </p:cNvPr>
          <p:cNvSpPr txBox="1"/>
          <p:nvPr/>
        </p:nvSpPr>
        <p:spPr>
          <a:xfrm>
            <a:off x="644857" y="1633491"/>
            <a:ext cx="5568286" cy="8335039"/>
          </a:xfrm>
          <a:prstGeom prst="rect">
            <a:avLst/>
          </a:prstGeom>
          <a:noFill/>
        </p:spPr>
        <p:txBody>
          <a:bodyPr wrap="square" rtlCol="0">
            <a:spAutoFit/>
          </a:bodyPr>
          <a:lstStyle/>
          <a:p>
            <a:pPr>
              <a:lnSpc>
                <a:spcPct val="107000"/>
              </a:lnSpc>
              <a:spcAft>
                <a:spcPts val="800"/>
              </a:spcAft>
            </a:pPr>
            <a:r>
              <a:rPr lang="en-US" sz="1200" b="1" dirty="0">
                <a:solidFill>
                  <a:srgbClr val="203864"/>
                </a:solidFill>
                <a:latin typeface="Century Gothic" panose="020B0502020202020204" pitchFamily="34" charset="0"/>
              </a:rPr>
              <a:t>Required documentation:</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Full Proposal</a:t>
            </a:r>
            <a:r>
              <a:rPr lang="en-US" sz="1200" dirty="0">
                <a:latin typeface="Century Gothic" panose="020B0502020202020204" pitchFamily="34" charset="0"/>
              </a:rPr>
              <a:t>: A full proposal describing:</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Executive Summary</a:t>
            </a:r>
            <a:r>
              <a:rPr lang="en-US" sz="1200" dirty="0">
                <a:solidFill>
                  <a:srgbClr val="203864"/>
                </a:solidFill>
                <a:latin typeface="Century Gothic" panose="020B0502020202020204" pitchFamily="34" charset="0"/>
              </a:rPr>
              <a:t>.</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Company Description</a:t>
            </a:r>
            <a:r>
              <a:rPr lang="en-US" sz="1200" dirty="0">
                <a:latin typeface="Century Gothic" panose="020B0502020202020204" pitchFamily="34" charset="0"/>
              </a:rPr>
              <a:t>: An explanation of the company’s mission, vision, key partners, and core assets.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Problem/Market Opportunity</a:t>
            </a:r>
            <a:r>
              <a:rPr lang="en-US" sz="1200" dirty="0">
                <a:latin typeface="Century Gothic" panose="020B0502020202020204" pitchFamily="34" charset="0"/>
              </a:rPr>
              <a:t>: A detailed description of the market problem, the unsatisfied needs of potential customers, and the current shortcomings of available solutions.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Innovation (Unique Selling Proposition - USP): </a:t>
            </a:r>
            <a:r>
              <a:rPr lang="en-US" sz="1200" dirty="0">
                <a:latin typeface="Century Gothic" panose="020B0502020202020204" pitchFamily="34" charset="0"/>
              </a:rPr>
              <a:t>A thorough explanation of how the solution works, its unique features, and how it stands out compared to existing technologies.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Market and Competition Analysis</a:t>
            </a:r>
            <a:r>
              <a:rPr lang="en-US" sz="1200" dirty="0">
                <a:latin typeface="Century Gothic" panose="020B0502020202020204" pitchFamily="34" charset="0"/>
              </a:rPr>
              <a:t>: An analysis of the target market, business model, and a detailed comparison of competitors.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Marketing and Sales Plan</a:t>
            </a:r>
            <a:r>
              <a:rPr lang="en-US" sz="1200" dirty="0">
                <a:latin typeface="Century Gothic" panose="020B0502020202020204" pitchFamily="34" charset="0"/>
              </a:rPr>
              <a:t>: The Go-to-Market strategy, including milestones, commercialization plans, and scaling potential.</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Team and Management</a:t>
            </a:r>
            <a:r>
              <a:rPr lang="en-US" sz="1200" dirty="0">
                <a:latin typeface="Century Gothic" panose="020B0502020202020204" pitchFamily="34" charset="0"/>
              </a:rPr>
              <a:t>: Profiles of the core team, highlighting their skills, experience, and roles, with a plan for addressing any gaps in expertise.</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Risk Assessment</a:t>
            </a:r>
            <a:r>
              <a:rPr lang="en-US" sz="1200" dirty="0">
                <a:latin typeface="Century Gothic" panose="020B0502020202020204" pitchFamily="34" charset="0"/>
              </a:rPr>
              <a:t>: An outline of the technological, market, and financial risks, along with mitigation strategies.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Financial Plan</a:t>
            </a:r>
            <a:r>
              <a:rPr lang="en-US" sz="1200" dirty="0">
                <a:latin typeface="Century Gothic" panose="020B0502020202020204" pitchFamily="34" charset="0"/>
              </a:rPr>
              <a:t>: Detailed financial projections, including key cost drivers and expected revenues. </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Implementation Plan</a:t>
            </a:r>
            <a:r>
              <a:rPr lang="en-US" sz="1200" dirty="0">
                <a:latin typeface="Century Gothic" panose="020B0502020202020204" pitchFamily="34" charset="0"/>
              </a:rPr>
              <a:t>: A breakdown of work packages, deliverables, milestones, and timelines.</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EU Support Justification</a:t>
            </a:r>
            <a:r>
              <a:rPr lang="en-US" sz="1200" dirty="0">
                <a:latin typeface="Century Gothic" panose="020B0502020202020204" pitchFamily="34" charset="0"/>
              </a:rPr>
              <a:t>: A rationale for needing EU funding, alongside a funding strategy and scalability plan.</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Funding Request</a:t>
            </a:r>
            <a:r>
              <a:rPr lang="en-US" sz="1200" dirty="0">
                <a:latin typeface="Century Gothic" panose="020B0502020202020204" pitchFamily="34" charset="0"/>
              </a:rPr>
              <a:t>: A declaration of the type of funding requested (grant only, blended finance, or equity only).</a:t>
            </a:r>
          </a:p>
          <a:p>
            <a:pPr marL="628650" lvl="1"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Broad Impacts</a:t>
            </a:r>
            <a:r>
              <a:rPr lang="en-US" sz="1200" dirty="0">
                <a:latin typeface="Century Gothic" panose="020B0502020202020204" pitchFamily="34" charset="0"/>
              </a:rPr>
              <a:t>: A description of the societal, economic, environmental, and climate impacts of the innovation, with a focus on job creation and contribution to the UN Sustainable Development Goals.</a:t>
            </a:r>
          </a:p>
        </p:txBody>
      </p:sp>
      <p:cxnSp>
        <p:nvCxnSpPr>
          <p:cNvPr id="4" name="Conector recto 3">
            <a:extLst>
              <a:ext uri="{FF2B5EF4-FFF2-40B4-BE49-F238E27FC236}">
                <a16:creationId xmlns:a16="http://schemas.microsoft.com/office/drawing/2014/main" id="{257ACA7C-B402-C1EA-0853-54C7B25BE732}"/>
              </a:ext>
            </a:extLst>
          </p:cNvPr>
          <p:cNvCxnSpPr>
            <a:cxnSpLocks/>
          </p:cNvCxnSpPr>
          <p:nvPr/>
        </p:nvCxnSpPr>
        <p:spPr>
          <a:xfrm>
            <a:off x="728818" y="1396334"/>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04615EF-DD47-E943-CC6E-2B5A8D41F6E3}"/>
              </a:ext>
            </a:extLst>
          </p:cNvPr>
          <p:cNvSpPr txBox="1"/>
          <p:nvPr/>
        </p:nvSpPr>
        <p:spPr>
          <a:xfrm>
            <a:off x="644857" y="854465"/>
            <a:ext cx="5568286" cy="523220"/>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Full </a:t>
            </a:r>
            <a:r>
              <a:rPr lang="es-ES" sz="2800" b="1" dirty="0" err="1">
                <a:solidFill>
                  <a:srgbClr val="203864"/>
                </a:solidFill>
                <a:latin typeface="Century Gothic" panose="020B0502020202020204" pitchFamily="34" charset="0"/>
              </a:rPr>
              <a:t>Proposal</a:t>
            </a:r>
            <a:r>
              <a:rPr lang="es-ES" sz="2800" b="1" dirty="0">
                <a:solidFill>
                  <a:srgbClr val="203864"/>
                </a:solidFill>
                <a:latin typeface="Century Gothic" panose="020B0502020202020204" pitchFamily="34" charset="0"/>
              </a:rPr>
              <a:t> </a:t>
            </a:r>
            <a:r>
              <a:rPr lang="es-ES" sz="2800" b="1" dirty="0" err="1">
                <a:solidFill>
                  <a:srgbClr val="203864"/>
                </a:solidFill>
                <a:latin typeface="Century Gothic" panose="020B0502020202020204" pitchFamily="34" charset="0"/>
              </a:rPr>
              <a:t>Stage</a:t>
            </a:r>
            <a:r>
              <a:rPr lang="es-ES" sz="2800" b="1" dirty="0">
                <a:solidFill>
                  <a:srgbClr val="203864"/>
                </a:solidFill>
                <a:latin typeface="Century Gothic" panose="020B0502020202020204" pitchFamily="34" charset="0"/>
              </a:rPr>
              <a:t> (</a:t>
            </a:r>
            <a:r>
              <a:rPr lang="es-ES" sz="2800" b="1" dirty="0" err="1">
                <a:solidFill>
                  <a:srgbClr val="203864"/>
                </a:solidFill>
                <a:latin typeface="Century Gothic" panose="020B0502020202020204" pitchFamily="34" charset="0"/>
              </a:rPr>
              <a:t>Part</a:t>
            </a:r>
            <a:r>
              <a:rPr lang="es-ES" sz="2800" b="1" dirty="0">
                <a:solidFill>
                  <a:srgbClr val="203864"/>
                </a:solidFill>
                <a:latin typeface="Century Gothic" panose="020B0502020202020204" pitchFamily="34" charset="0"/>
              </a:rPr>
              <a:t> 1)</a:t>
            </a:r>
          </a:p>
        </p:txBody>
      </p:sp>
      <p:sp>
        <p:nvSpPr>
          <p:cNvPr id="9" name="CuadroTexto 8">
            <a:extLst>
              <a:ext uri="{FF2B5EF4-FFF2-40B4-BE49-F238E27FC236}">
                <a16:creationId xmlns:a16="http://schemas.microsoft.com/office/drawing/2014/main" id="{D21B7CCF-BBCE-39CE-F2A8-65939655AD44}"/>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6" name="Marcador de número de diapositiva 5">
            <a:extLst>
              <a:ext uri="{FF2B5EF4-FFF2-40B4-BE49-F238E27FC236}">
                <a16:creationId xmlns:a16="http://schemas.microsoft.com/office/drawing/2014/main" id="{D7B16037-FA28-B330-2BD6-AD6B7E4F4E1F}"/>
              </a:ext>
            </a:extLst>
          </p:cNvPr>
          <p:cNvSpPr>
            <a:spLocks noGrp="1"/>
          </p:cNvSpPr>
          <p:nvPr>
            <p:ph type="sldNum" sz="quarter" idx="12"/>
          </p:nvPr>
        </p:nvSpPr>
        <p:spPr/>
        <p:txBody>
          <a:bodyPr/>
          <a:lstStyle/>
          <a:p>
            <a:fld id="{0425F90D-6CCB-471F-89CD-46DB18BC9278}" type="slidenum">
              <a:rPr lang="en-US" smtClean="0"/>
              <a:t>10</a:t>
            </a:fld>
            <a:endParaRPr lang="en-US" dirty="0"/>
          </a:p>
        </p:txBody>
      </p:sp>
    </p:spTree>
    <p:extLst>
      <p:ext uri="{BB962C8B-B14F-4D97-AF65-F5344CB8AC3E}">
        <p14:creationId xmlns:p14="http://schemas.microsoft.com/office/powerpoint/2010/main" val="289857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6B8D8B-FC65-5475-4213-5DE87464883B}"/>
              </a:ext>
            </a:extLst>
          </p:cNvPr>
          <p:cNvSpPr txBox="1"/>
          <p:nvPr/>
        </p:nvSpPr>
        <p:spPr>
          <a:xfrm>
            <a:off x="644857" y="1633491"/>
            <a:ext cx="5568286" cy="8642815"/>
          </a:xfrm>
          <a:prstGeom prst="rect">
            <a:avLst/>
          </a:prstGeom>
          <a:noFill/>
        </p:spPr>
        <p:txBody>
          <a:bodyPr wrap="square" rtlCol="0">
            <a:spAutoFit/>
          </a:bodyPr>
          <a:lstStyle/>
          <a:p>
            <a:pPr>
              <a:lnSpc>
                <a:spcPct val="107000"/>
              </a:lnSpc>
              <a:spcAft>
                <a:spcPts val="800"/>
              </a:spcAft>
            </a:pPr>
            <a:r>
              <a:rPr lang="en-US" sz="1200" b="1" dirty="0">
                <a:solidFill>
                  <a:srgbClr val="203864"/>
                </a:solidFill>
                <a:latin typeface="Century Gothic" panose="020B0502020202020204" pitchFamily="34" charset="0"/>
              </a:rPr>
              <a:t>Required documentation:</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Financial Information</a:t>
            </a:r>
            <a:r>
              <a:rPr lang="en-US" sz="1200" dirty="0">
                <a:latin typeface="Century Gothic" panose="020B0502020202020204" pitchFamily="34" charset="0"/>
              </a:rPr>
              <a:t>: Projections from the current year to four years ahead.</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Letters of Intent</a:t>
            </a:r>
            <a:r>
              <a:rPr lang="en-US" sz="1200" dirty="0">
                <a:latin typeface="Century Gothic" panose="020B0502020202020204" pitchFamily="34" charset="0"/>
              </a:rPr>
              <a:t>: Letters from </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Key Opinion Leaders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Proof of Concepts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Clients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Distributors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Licensors</a:t>
            </a:r>
          </a:p>
          <a:p>
            <a:pPr marL="171450" indent="-171450" algn="just">
              <a:lnSpc>
                <a:spcPct val="107000"/>
              </a:lnSpc>
              <a:spcAft>
                <a:spcPts val="800"/>
              </a:spcAft>
              <a:buClr>
                <a:srgbClr val="9E21B7"/>
              </a:buClr>
              <a:buFont typeface="Arial" panose="020B0604020202020204" pitchFamily="34" charset="0"/>
              <a:buChar char="•"/>
            </a:pPr>
            <a:r>
              <a:rPr lang="en-US" sz="1200" dirty="0">
                <a:solidFill>
                  <a:srgbClr val="203864"/>
                </a:solidFill>
                <a:latin typeface="Century Gothic" panose="020B0502020202020204" pitchFamily="34" charset="0"/>
              </a:rPr>
              <a:t>Company Information</a:t>
            </a:r>
            <a:r>
              <a:rPr lang="en-US" sz="1200" dirty="0">
                <a:latin typeface="Century Gothic" panose="020B0502020202020204" pitchFamily="34" charset="0"/>
              </a:rPr>
              <a:t>: General information about the engineering, proof of concepts, technological research, and ethics.</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Lump Sum Funding</a:t>
            </a:r>
            <a:r>
              <a:rPr lang="en-US" sz="1200" dirty="0">
                <a:latin typeface="Century Gothic" panose="020B0502020202020204" pitchFamily="34" charset="0"/>
              </a:rPr>
              <a:t>: Information and explanation of lump sum funding to be applied to Horizon Europe projects, outlining cost models and how the lump sums will be managed within the project. The lump sum cost model will be used to establish the project’s budget and milestones in the full proposal.</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Pitch Deck Extension</a:t>
            </a:r>
            <a:r>
              <a:rPr lang="en-US" sz="1200" dirty="0">
                <a:latin typeface="Century Gothic" panose="020B0502020202020204" pitchFamily="34" charset="0"/>
              </a:rPr>
              <a:t>: Extension of the short stage presentation without slide limitation.</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Media Document</a:t>
            </a:r>
            <a:r>
              <a:rPr lang="en-US" sz="1200" dirty="0">
                <a:latin typeface="Century Gothic" panose="020B0502020202020204" pitchFamily="34" charset="0"/>
              </a:rPr>
              <a:t>: A comprehensive file showcasing the company’s recognition, awards, press coverage, and any other relevant media appearances. This document helps validate the company's achievements and its credibility in the market.</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Freedom to Operate (FTO) Analysis</a:t>
            </a:r>
            <a:r>
              <a:rPr lang="en-US" sz="1200" dirty="0">
                <a:latin typeface="Century Gothic" panose="020B0502020202020204" pitchFamily="34" charset="0"/>
              </a:rPr>
              <a:t>: Documentation supporting intellectual property rights and strategies.</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Data Management Plan</a:t>
            </a:r>
            <a:r>
              <a:rPr lang="en-US" sz="1200" dirty="0">
                <a:latin typeface="Century Gothic" panose="020B0502020202020204" pitchFamily="34" charset="0"/>
              </a:rPr>
              <a:t>: If applicable, particularly for sensitive data projects. </a:t>
            </a:r>
          </a:p>
          <a:p>
            <a:pPr marL="171450" indent="-171450" algn="just">
              <a:lnSpc>
                <a:spcPct val="107000"/>
              </a:lnSpc>
              <a:spcAft>
                <a:spcPts val="800"/>
              </a:spcAft>
              <a:buClr>
                <a:srgbClr val="9E21B7"/>
              </a:buClr>
              <a:buFont typeface="Arial" panose="020B0604020202020204" pitchFamily="34" charset="0"/>
              <a:buChar char="•"/>
            </a:pPr>
            <a:r>
              <a:rPr lang="en-US" sz="1200" b="1" dirty="0">
                <a:solidFill>
                  <a:srgbClr val="203864"/>
                </a:solidFill>
                <a:latin typeface="Century Gothic" panose="020B0502020202020204" pitchFamily="34" charset="0"/>
              </a:rPr>
              <a:t>Ownership and Control Declaration</a:t>
            </a:r>
            <a:r>
              <a:rPr lang="en-US" sz="1200" dirty="0">
                <a:latin typeface="Century Gothic" panose="020B0502020202020204" pitchFamily="34" charset="0"/>
              </a:rPr>
              <a:t>: The declaration ensures compliance with EU ownership and control regulations.</a:t>
            </a: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a:p>
            <a:pPr algn="just">
              <a:lnSpc>
                <a:spcPct val="107000"/>
              </a:lnSpc>
              <a:spcAft>
                <a:spcPts val="800"/>
              </a:spcAft>
              <a:buClr>
                <a:srgbClr val="9E21B7"/>
              </a:buClr>
            </a:pPr>
            <a:r>
              <a:rPr lang="en-US" sz="1200" b="1" dirty="0">
                <a:solidFill>
                  <a:srgbClr val="203864"/>
                </a:solidFill>
                <a:latin typeface="Century Gothic" panose="020B0502020202020204" pitchFamily="34" charset="0"/>
              </a:rPr>
              <a:t>Principles</a:t>
            </a:r>
            <a:r>
              <a:rPr lang="en-US" sz="1200" dirty="0">
                <a:latin typeface="Century Gothic" panose="020B0502020202020204" pitchFamily="34" charset="0"/>
              </a:rPr>
              <a:t>: All documentation must be created with the evaluation criteria in mind, establishing an intellectual, emotional, and ethical connection with the evaluators</a:t>
            </a:r>
          </a:p>
          <a:p>
            <a:pPr algn="just">
              <a:lnSpc>
                <a:spcPct val="107000"/>
              </a:lnSpc>
              <a:spcAft>
                <a:spcPts val="800"/>
              </a:spcAft>
              <a:buClr>
                <a:srgbClr val="9E21B7"/>
              </a:buClr>
            </a:pPr>
            <a:endParaRPr lang="en-US" sz="1200" dirty="0">
              <a:latin typeface="Century Gothic" panose="020B0502020202020204" pitchFamily="34" charset="0"/>
            </a:endParaRPr>
          </a:p>
          <a:p>
            <a:pPr marL="171450" indent="-171450" algn="just">
              <a:lnSpc>
                <a:spcPct val="107000"/>
              </a:lnSpc>
              <a:spcAft>
                <a:spcPts val="800"/>
              </a:spcAft>
              <a:buClr>
                <a:srgbClr val="9E21B7"/>
              </a:buClr>
              <a:buFont typeface="Arial" panose="020B0604020202020204" pitchFamily="34" charset="0"/>
              <a:buChar char="•"/>
            </a:pPr>
            <a:endParaRPr lang="en-US" sz="1200" dirty="0">
              <a:latin typeface="Century Gothic" panose="020B0502020202020204" pitchFamily="34" charset="0"/>
            </a:endParaRPr>
          </a:p>
        </p:txBody>
      </p:sp>
      <p:cxnSp>
        <p:nvCxnSpPr>
          <p:cNvPr id="4" name="Conector recto 3">
            <a:extLst>
              <a:ext uri="{FF2B5EF4-FFF2-40B4-BE49-F238E27FC236}">
                <a16:creationId xmlns:a16="http://schemas.microsoft.com/office/drawing/2014/main" id="{257ACA7C-B402-C1EA-0853-54C7B25BE732}"/>
              </a:ext>
            </a:extLst>
          </p:cNvPr>
          <p:cNvCxnSpPr>
            <a:cxnSpLocks/>
          </p:cNvCxnSpPr>
          <p:nvPr/>
        </p:nvCxnSpPr>
        <p:spPr>
          <a:xfrm>
            <a:off x="728818" y="1396334"/>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04615EF-DD47-E943-CC6E-2B5A8D41F6E3}"/>
              </a:ext>
            </a:extLst>
          </p:cNvPr>
          <p:cNvSpPr txBox="1"/>
          <p:nvPr/>
        </p:nvSpPr>
        <p:spPr>
          <a:xfrm>
            <a:off x="644857" y="854465"/>
            <a:ext cx="5568286" cy="523220"/>
          </a:xfrm>
          <a:prstGeom prst="rect">
            <a:avLst/>
          </a:prstGeom>
          <a:noFill/>
        </p:spPr>
        <p:txBody>
          <a:bodyPr wrap="square" rtlCol="0">
            <a:spAutoFit/>
          </a:bodyPr>
          <a:lstStyle/>
          <a:p>
            <a:pPr algn="just"/>
            <a:r>
              <a:rPr lang="es-ES" sz="2800" b="1" dirty="0">
                <a:solidFill>
                  <a:srgbClr val="203864"/>
                </a:solidFill>
                <a:latin typeface="Century Gothic" panose="020B0502020202020204" pitchFamily="34" charset="0"/>
              </a:rPr>
              <a:t>Full </a:t>
            </a:r>
            <a:r>
              <a:rPr lang="es-ES" sz="2800" b="1" dirty="0" err="1">
                <a:solidFill>
                  <a:srgbClr val="203864"/>
                </a:solidFill>
                <a:latin typeface="Century Gothic" panose="020B0502020202020204" pitchFamily="34" charset="0"/>
              </a:rPr>
              <a:t>Proposal</a:t>
            </a:r>
            <a:r>
              <a:rPr lang="es-ES" sz="2800" b="1" dirty="0">
                <a:solidFill>
                  <a:srgbClr val="203864"/>
                </a:solidFill>
                <a:latin typeface="Century Gothic" panose="020B0502020202020204" pitchFamily="34" charset="0"/>
              </a:rPr>
              <a:t> </a:t>
            </a:r>
            <a:r>
              <a:rPr lang="es-ES" sz="2800" b="1" dirty="0" err="1">
                <a:solidFill>
                  <a:srgbClr val="203864"/>
                </a:solidFill>
                <a:latin typeface="Century Gothic" panose="020B0502020202020204" pitchFamily="34" charset="0"/>
              </a:rPr>
              <a:t>Stage</a:t>
            </a:r>
            <a:r>
              <a:rPr lang="es-ES" sz="2800" b="1" dirty="0">
                <a:solidFill>
                  <a:srgbClr val="203864"/>
                </a:solidFill>
                <a:latin typeface="Century Gothic" panose="020B0502020202020204" pitchFamily="34" charset="0"/>
              </a:rPr>
              <a:t> (</a:t>
            </a:r>
            <a:r>
              <a:rPr lang="es-ES" sz="2800" b="1" dirty="0" err="1">
                <a:solidFill>
                  <a:srgbClr val="203864"/>
                </a:solidFill>
                <a:latin typeface="Century Gothic" panose="020B0502020202020204" pitchFamily="34" charset="0"/>
              </a:rPr>
              <a:t>Part</a:t>
            </a:r>
            <a:r>
              <a:rPr lang="es-ES" sz="2800" b="1" dirty="0">
                <a:solidFill>
                  <a:srgbClr val="203864"/>
                </a:solidFill>
                <a:latin typeface="Century Gothic" panose="020B0502020202020204" pitchFamily="34" charset="0"/>
              </a:rPr>
              <a:t> 2)</a:t>
            </a:r>
          </a:p>
        </p:txBody>
      </p:sp>
      <p:sp>
        <p:nvSpPr>
          <p:cNvPr id="9" name="CuadroTexto 8">
            <a:extLst>
              <a:ext uri="{FF2B5EF4-FFF2-40B4-BE49-F238E27FC236}">
                <a16:creationId xmlns:a16="http://schemas.microsoft.com/office/drawing/2014/main" id="{D21B7CCF-BBCE-39CE-F2A8-65939655AD44}"/>
              </a:ext>
            </a:extLst>
          </p:cNvPr>
          <p:cNvSpPr txBox="1"/>
          <p:nvPr/>
        </p:nvSpPr>
        <p:spPr>
          <a:xfrm>
            <a:off x="644857" y="166874"/>
            <a:ext cx="5568286" cy="431785"/>
          </a:xfrm>
          <a:prstGeom prst="rect">
            <a:avLst/>
          </a:prstGeom>
          <a:noFill/>
        </p:spPr>
        <p:txBody>
          <a:bodyPr wrap="square" rtlCol="0">
            <a:spAutoFit/>
          </a:bodyPr>
          <a:lstStyle/>
          <a:p>
            <a:pPr>
              <a:lnSpc>
                <a:spcPct val="107000"/>
              </a:lnSpc>
              <a:spcAft>
                <a:spcPts val="800"/>
              </a:spcAft>
            </a:pPr>
            <a:r>
              <a:rPr lang="en-US" sz="1000" dirty="0">
                <a:solidFill>
                  <a:schemeClr val="bg1">
                    <a:lumMod val="65000"/>
                  </a:schemeClr>
                </a:solidFill>
                <a:latin typeface="Century Gothic" panose="020B0502020202020204" pitchFamily="34" charset="0"/>
              </a:rPr>
              <a:t>Collaboration proposal</a:t>
            </a:r>
            <a:br>
              <a:rPr lang="en-US" sz="1000" dirty="0">
                <a:solidFill>
                  <a:schemeClr val="bg1">
                    <a:lumMod val="65000"/>
                  </a:schemeClr>
                </a:solidFill>
                <a:latin typeface="Century Gothic" panose="020B0502020202020204" pitchFamily="34" charset="0"/>
              </a:rPr>
            </a:br>
            <a:r>
              <a:rPr lang="en-US" sz="1050" b="1" dirty="0">
                <a:solidFill>
                  <a:schemeClr val="bg1">
                    <a:lumMod val="65000"/>
                  </a:schemeClr>
                </a:solidFill>
                <a:latin typeface="Century Gothic" panose="020B0502020202020204" pitchFamily="34" charset="0"/>
              </a:rPr>
              <a:t>Silicon Capital Partners</a:t>
            </a:r>
            <a:endParaRPr lang="es-ES" sz="1100" b="1" dirty="0">
              <a:solidFill>
                <a:schemeClr val="bg1">
                  <a:lumMod val="65000"/>
                </a:schemeClr>
              </a:solidFill>
              <a:latin typeface="Century Gothic" panose="020B0502020202020204" pitchFamily="34" charset="0"/>
            </a:endParaRPr>
          </a:p>
        </p:txBody>
      </p:sp>
      <p:sp>
        <p:nvSpPr>
          <p:cNvPr id="6" name="Marcador de número de diapositiva 5">
            <a:extLst>
              <a:ext uri="{FF2B5EF4-FFF2-40B4-BE49-F238E27FC236}">
                <a16:creationId xmlns:a16="http://schemas.microsoft.com/office/drawing/2014/main" id="{D7B16037-FA28-B330-2BD6-AD6B7E4F4E1F}"/>
              </a:ext>
            </a:extLst>
          </p:cNvPr>
          <p:cNvSpPr>
            <a:spLocks noGrp="1"/>
          </p:cNvSpPr>
          <p:nvPr>
            <p:ph type="sldNum" sz="quarter" idx="12"/>
          </p:nvPr>
        </p:nvSpPr>
        <p:spPr/>
        <p:txBody>
          <a:bodyPr/>
          <a:lstStyle/>
          <a:p>
            <a:fld id="{0425F90D-6CCB-471F-89CD-46DB18BC9278}" type="slidenum">
              <a:rPr lang="en-US" smtClean="0"/>
              <a:t>11</a:t>
            </a:fld>
            <a:endParaRPr lang="en-US" dirty="0"/>
          </a:p>
        </p:txBody>
      </p:sp>
      <p:sp>
        <p:nvSpPr>
          <p:cNvPr id="3" name="CuadroTexto 2">
            <a:extLst>
              <a:ext uri="{FF2B5EF4-FFF2-40B4-BE49-F238E27FC236}">
                <a16:creationId xmlns:a16="http://schemas.microsoft.com/office/drawing/2014/main" id="{D1F87A24-82AF-9CEA-415B-626E34ECB4F4}"/>
              </a:ext>
            </a:extLst>
          </p:cNvPr>
          <p:cNvSpPr txBox="1"/>
          <p:nvPr/>
        </p:nvSpPr>
        <p:spPr>
          <a:xfrm>
            <a:off x="2795874" y="2741019"/>
            <a:ext cx="5568286" cy="1475597"/>
          </a:xfrm>
          <a:prstGeom prst="rect">
            <a:avLst/>
          </a:prstGeom>
          <a:noFill/>
        </p:spPr>
        <p:txBody>
          <a:bodyPr wrap="square" rtlCol="0">
            <a:spAutoFit/>
          </a:bodyPr>
          <a:lstStyle/>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Connectors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Providers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Legal assistance</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Investors</a:t>
            </a:r>
          </a:p>
          <a:p>
            <a:pPr marL="628650" lvl="1" indent="-171450" algn="just">
              <a:lnSpc>
                <a:spcPct val="107000"/>
              </a:lnSpc>
              <a:spcAft>
                <a:spcPts val="800"/>
              </a:spcAft>
              <a:buClr>
                <a:srgbClr val="9E21B7"/>
              </a:buClr>
              <a:buFont typeface="Arial" panose="020B0604020202020204" pitchFamily="34" charset="0"/>
              <a:buChar char="•"/>
            </a:pPr>
            <a:r>
              <a:rPr lang="en-US" sz="1200" dirty="0">
                <a:latin typeface="Century Gothic" panose="020B0502020202020204" pitchFamily="34" charset="0"/>
              </a:rPr>
              <a:t>Regulators</a:t>
            </a:r>
          </a:p>
        </p:txBody>
      </p:sp>
      <p:cxnSp>
        <p:nvCxnSpPr>
          <p:cNvPr id="7" name="Conector recto 6">
            <a:extLst>
              <a:ext uri="{FF2B5EF4-FFF2-40B4-BE49-F238E27FC236}">
                <a16:creationId xmlns:a16="http://schemas.microsoft.com/office/drawing/2014/main" id="{62B290B8-5AE2-E254-C48A-F8FF95A750A0}"/>
              </a:ext>
            </a:extLst>
          </p:cNvPr>
          <p:cNvCxnSpPr>
            <a:cxnSpLocks/>
          </p:cNvCxnSpPr>
          <p:nvPr/>
        </p:nvCxnSpPr>
        <p:spPr>
          <a:xfrm>
            <a:off x="724462" y="8837826"/>
            <a:ext cx="694868" cy="0"/>
          </a:xfrm>
          <a:prstGeom prst="line">
            <a:avLst/>
          </a:prstGeom>
          <a:ln w="38100">
            <a:solidFill>
              <a:srgbClr val="20386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68161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490</TotalTime>
  <Words>1926</Words>
  <Application>Microsoft Office PowerPoint</Application>
  <PresentationFormat>A4 (210 x 297 mm)</PresentationFormat>
  <Paragraphs>232</Paragraphs>
  <Slides>11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Calibri Light</vt:lpstr>
      <vt:lpstr>Century Gothic</vt:lpstr>
      <vt:lpstr>Roboto</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Jesus Lozano</dc:creator>
  <cp:lastModifiedBy>Hector Lozano</cp:lastModifiedBy>
  <cp:revision>47</cp:revision>
  <dcterms:created xsi:type="dcterms:W3CDTF">2023-09-23T22:40:37Z</dcterms:created>
  <dcterms:modified xsi:type="dcterms:W3CDTF">2025-10-01T06:34:26Z</dcterms:modified>
</cp:coreProperties>
</file>